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fc2eb8c-2231-7f99-0526-0039406169e3}">
          <p14:sldIdLst>
            <p14:sldId id="256"/>
          </p14:sldIdLst>
        </p14:section>
        <p14:section name="Background" id="{635f8697-b071-6267-34ee-9a7520185618}">
          <p14:sldIdLst>
            <p14:sldId id="257"/>
            <p14:sldId id="258"/>
          </p14:sldIdLst>
        </p14:section>
        <p14:section name="Method" id="{3072cfd8-946a-a461-8822-80a9569a1887}">
          <p14:sldIdLst>
            <p14:sldId id="259"/>
            <p14:sldId id="260"/>
            <p14:sldId id="261"/>
            <p14:sldId id="262"/>
          </p14:sldIdLst>
        </p14:section>
        <p14:section name="Results" id="{823d4edf-03b4-b7ef-f280-1e7c777504f6}">
          <p14:sldIdLst>
            <p14:sldId id="263"/>
            <p14:sldId id="264"/>
          </p14:sldIdLst>
        </p14:section>
        <p14:section name="Close" id="{c126c726-51a3-b3e8-388b-880036625270}">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3A5F"/>
                </a:solidFill>
                <a:latin typeface="+mn-lt"/>
              </a:defRPr>
            </a:pPr>
            <a:r>
              <a:rPr sz="1200" b="0" i="0" u="none" strike="noStrike">
                <a:solidFill>
                  <a:srgbClr val="1F3A5F"/>
                </a:solidFill>
                <a:latin typeface="+mn-lt"/>
              </a:rPr>
              <a:t>Merge sort grows like n log n</a:t>
            </a:r>
          </a:p>
        </c:rich>
      </c:tx>
      <c:layout/>
      <c:overlay val="0"/>
    </c:title>
    <c:autoTitleDeleted val="0"/>
    <c:plotArea>
      <c:layout/>
      <c:lineChart>
        <c:varyColors val="0"/>
        <c:ser>
          <c:idx val="0"/>
          <c:order val="0"/>
          <c:tx>
            <c:strRef>
              <c:f>Sheet1!$B$1</c:f>
              <c:strCache>
                <c:ptCount val="1"/>
                <c:pt idx="0">
                  <c:v>merge sort comparisons</c:v>
                </c:pt>
              </c:strCache>
            </c:strRef>
          </c:tx>
          <c:spPr>
            <a:solidFill>
              <a:srgbClr val="B5373F"/>
            </a:solidFill>
            <a:ln w="25400" cap="flat">
              <a:solidFill>
                <a:srgbClr val="B5373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5373F"/>
              </a:solidFill>
              <a:ln w="9525" cap="flat">
                <a:solidFill>
                  <a:srgbClr val="B5373F"/>
                </a:solidFill>
                <a:prstDash val="solid"/>
                <a:round/>
              </a:ln>
              <a:effectLst/>
            </c:spPr>
          </c:marker>
          <c:cat>
            <c:multiLvlStrRef>
              <c:f>Sheet1!$A$2:$A$8</c:f>
              <c:multiLvlStrCache>
                <c:ptCount val="7"/>
                <c:lvl>
                  <c:pt idx="0">
                    <c:v>10</c:v>
                  </c:pt>
                  <c:pt idx="1">
                    <c:v>50</c:v>
                  </c:pt>
                  <c:pt idx="2">
                    <c:v>100</c:v>
                  </c:pt>
                  <c:pt idx="3">
                    <c:v>200</c:v>
                  </c:pt>
                  <c:pt idx="4">
                    <c:v>400</c:v>
                  </c:pt>
                  <c:pt idx="5">
                    <c:v>800</c:v>
                  </c:pt>
                  <c:pt idx="6">
                    <c:v>1600</c:v>
                  </c:pt>
                </c:lvl>
              </c:multiLvlStrCache>
            </c:multiLvlStrRef>
          </c:cat>
          <c:val>
            <c:numRef>
              <c:f>Sheet1!$B$2:$B$8</c:f>
              <c:numCache>
                <c:formatCode>General</c:formatCode>
                <c:ptCount val="7"/>
                <c:pt idx="0">
                  <c:v>22</c:v>
                </c:pt>
                <c:pt idx="1">
                  <c:v>220</c:v>
                </c:pt>
                <c:pt idx="2">
                  <c:v>540</c:v>
                </c:pt>
                <c:pt idx="3">
                  <c:v>1290</c:v>
                </c:pt>
                <c:pt idx="4">
                  <c:v>2959</c:v>
                </c:pt>
                <c:pt idx="5">
                  <c:v>6717</c:v>
                </c:pt>
                <c:pt idx="6">
                  <c:v>15043</c:v>
                </c:pt>
              </c:numCache>
            </c:numRef>
          </c:val>
          <c:smooth val="0"/>
        </c:ser>
        <c:ser>
          <c:idx val="1"/>
          <c:order val="1"/>
          <c:tx>
            <c:strRef>
              <c:f>Sheet1!$C$1</c:f>
              <c:strCache>
                <c:ptCount val="1"/>
                <c:pt idx="0">
                  <c:v>n log2 n</c:v>
                </c:pt>
              </c:strCache>
            </c:strRef>
          </c:tx>
          <c:spPr>
            <a:solidFill>
              <a:srgbClr val="8A97A8"/>
            </a:solidFill>
            <a:ln w="25400" cap="flat">
              <a:solidFill>
                <a:srgbClr val="8A97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97A8"/>
              </a:solidFill>
              <a:ln w="9525" cap="flat">
                <a:solidFill>
                  <a:srgbClr val="8A97A8"/>
                </a:solidFill>
                <a:prstDash val="solid"/>
                <a:round/>
              </a:ln>
              <a:effectLst/>
            </c:spPr>
          </c:marker>
          <c:cat>
            <c:multiLvlStrRef>
              <c:f>Sheet1!$A$2:$A$8</c:f>
              <c:multiLvlStrCache>
                <c:ptCount val="7"/>
                <c:lvl>
                  <c:pt idx="0">
                    <c:v>10</c:v>
                  </c:pt>
                  <c:pt idx="1">
                    <c:v>50</c:v>
                  </c:pt>
                  <c:pt idx="2">
                    <c:v>100</c:v>
                  </c:pt>
                  <c:pt idx="3">
                    <c:v>200</c:v>
                  </c:pt>
                  <c:pt idx="4">
                    <c:v>400</c:v>
                  </c:pt>
                  <c:pt idx="5">
                    <c:v>800</c:v>
                  </c:pt>
                  <c:pt idx="6">
                    <c:v>1600</c:v>
                  </c:pt>
                </c:lvl>
              </c:multiLvlStrCache>
            </c:multiLvlStrRef>
          </c:cat>
          <c:val>
            <c:numRef>
              <c:f>Sheet1!$C$2:$C$8</c:f>
              <c:numCache>
                <c:formatCode>General</c:formatCode>
                <c:ptCount val="7"/>
                <c:pt idx="0">
                  <c:v>33</c:v>
                </c:pt>
                <c:pt idx="1">
                  <c:v>282</c:v>
                </c:pt>
                <c:pt idx="2">
                  <c:v>664</c:v>
                </c:pt>
                <c:pt idx="3">
                  <c:v>1529</c:v>
                </c:pt>
                <c:pt idx="4">
                  <c:v>3458</c:v>
                </c:pt>
                <c:pt idx="5">
                  <c:v>7715</c:v>
                </c:pt>
                <c:pt idx="6">
                  <c:v>17030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000000"/>
                    </a:solidFill>
                    <a:latin typeface="Arial"/>
                  </a:defRPr>
                </a:pPr>
                <a:r>
                  <a:rPr sz="900" b="0" i="0" u="none" strike="noStrike">
                    <a:solidFill>
                      <a:srgbClr val="000000"/>
                    </a:solidFill>
                    <a:latin typeface="Arial"/>
                  </a:rPr>
                  <a:t>records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5555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5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555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course and the project name. One line: PC Point is a computer shop web app where every feature runs on a hand-written data structure or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shop scenario briefly, then the key idea: the shop is only the stage. The real subject is the five data structures and five algorithms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objectives from the project synopsis.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follows your notes: array, linked list, queue, stack. For the stack, be ready to say it is used for undoing the latest action (LIFO) and that the code applies the same LIFO idea to evaluate the bill step by step. Phase 2 is BFS on the component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binary search needs sorted ids, so the catalogue is sorted first. Phase 4: the greedy rule maximises the number of items, not their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The key phrase for each row is the "why": the structure was chosen because of how that feature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note: it maximises the NUMBER of items, not performance. That would be a knapsack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come from running the project functions on the seed data: 18 products. Merge sort used 53 comparisons to sort the 18 products by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backend/app.py, open http://127.0.0.1:5000 and take these six screenshots. Sign in as the admin for 2, 3 and 4. Delete this note and the dashed boxes once the pictures are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real issues in the code. Replace or add your own experience: what took longest, what you got wrong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rgbClr val="1F3A5F"/>
                </a:solidFill>
                <a:latin typeface="Georgia" pitchFamily="34" charset="0"/>
                <a:ea typeface="Georgia" pitchFamily="34" charset="-122"/>
                <a:cs typeface="Georgia" pitchFamily="34" charset="-120"/>
              </a:defRPr>
            </a:lvl1pPr>
          </a:lstStyle>
          <a:p>
            <a:pPr algn="l" indent="0" marL="0">
              <a:buNone/>
            </a:pPr>
            <a:endParaRPr lang="en-US" sz="2600" dirty="0"/>
          </a:p>
        </p:txBody>
      </p:sp>
      <p:sp>
        <p:nvSpPr>
          <p:cNvPr id="3" name="Shape 0"/>
          <p:cNvSpPr/>
          <p:nvPr/>
        </p:nvSpPr>
        <p:spPr>
          <a:xfrm>
            <a:off x="457200" y="932688"/>
            <a:ext cx="822960" cy="45720"/>
          </a:xfrm>
          <a:prstGeom prst="rect">
            <a:avLst/>
          </a:prstGeom>
          <a:solidFill>
            <a:srgbClr val="B5373F"/>
          </a:solidFill>
          <a:ln/>
        </p:spPr>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75120" y="-822960"/>
            <a:ext cx="4023360" cy="4023360"/>
          </a:xfrm>
          <a:prstGeom prst="ellipse">
            <a:avLst/>
          </a:prstGeom>
          <a:solidFill>
            <a:srgbClr val="B5373F">
              <a:alpha val="30000"/>
            </a:srgbClr>
          </a:solidFill>
          <a:ln w="12700">
            <a:solidFill>
              <a:srgbClr val="B5373F"/>
            </a:solidFill>
            <a:prstDash val="solid"/>
          </a:ln>
        </p:spPr>
      </p:sp>
      <p:sp>
        <p:nvSpPr>
          <p:cNvPr id="3" name="Text 1"/>
          <p:cNvSpPr txBox="1"/>
          <p:nvPr/>
        </p:nvSpPr>
        <p:spPr>
          <a:xfrm>
            <a:off x="640080" y="1097280"/>
            <a:ext cx="6400800" cy="822960"/>
          </a:xfrm>
          <a:prstGeom prst="rect">
            <a:avLst/>
          </a:prstGeom>
          <a:noFill/>
          <a:ln/>
        </p:spPr>
        <p:txBody>
          <a:bodyPr wrap="square" lIns="0" tIns="0" rIns="0" bIns="0" rtlCol="0" anchor="t"/>
          <a:lstStyle/>
          <a:p>
            <a:pPr indent="0" marL="0">
              <a:buNone/>
            </a:pPr>
            <a:r>
              <a:rPr lang="en-US" sz="4800" b="1" dirty="0">
                <a:solidFill>
                  <a:schemeClr val="bg1"/>
                </a:solidFill>
                <a:latin typeface="Georgia" pitchFamily="34" charset="0"/>
                <a:ea typeface="Georgia" pitchFamily="34" charset="-122"/>
                <a:cs typeface="Georgia" pitchFamily="34" charset="-120"/>
              </a:rPr>
              <a:t>PC POINT</a:t>
            </a:r>
            <a:endParaRPr lang="en-US" sz="4800" dirty="0"/>
          </a:p>
        </p:txBody>
      </p:sp>
      <p:sp>
        <p:nvSpPr>
          <p:cNvPr id="4" name="Text 2"/>
          <p:cNvSpPr txBox="1"/>
          <p:nvPr/>
        </p:nvSpPr>
        <p:spPr>
          <a:xfrm>
            <a:off x="640080" y="1965960"/>
            <a:ext cx="6858000" cy="457200"/>
          </a:xfrm>
          <a:prstGeom prst="rect">
            <a:avLst/>
          </a:prstGeom>
          <a:noFill/>
          <a:ln/>
        </p:spPr>
        <p:txBody>
          <a:bodyPr wrap="square" lIns="0" tIns="0" rIns="0" bIns="0" rtlCol="0" anchor="t"/>
          <a:lstStyle/>
          <a:p>
            <a:pPr indent="0" marL="0">
              <a:buNone/>
            </a:pPr>
            <a:r>
              <a:rPr lang="en-US" sz="2200" dirty="0">
                <a:solidFill>
                  <a:srgbClr val="D9E2F3"/>
                </a:solidFill>
              </a:rPr>
              <a:t>Online Computer Sales and Accessories</a:t>
            </a:r>
            <a:endParaRPr lang="en-US" sz="2200" dirty="0"/>
          </a:p>
        </p:txBody>
      </p:sp>
      <p:sp>
        <p:nvSpPr>
          <p:cNvPr id="5" name="Text 3"/>
          <p:cNvSpPr txBox="1"/>
          <p:nvPr/>
        </p:nvSpPr>
        <p:spPr>
          <a:xfrm>
            <a:off x="640080" y="2514600"/>
            <a:ext cx="6858000" cy="365760"/>
          </a:xfrm>
          <a:prstGeom prst="rect">
            <a:avLst/>
          </a:prstGeom>
          <a:noFill/>
          <a:ln/>
        </p:spPr>
        <p:txBody>
          <a:bodyPr wrap="square" lIns="0" tIns="0" rIns="0" bIns="0" rtlCol="0" anchor="t"/>
          <a:lstStyle/>
          <a:p>
            <a:pPr indent="0" marL="0">
              <a:buNone/>
            </a:pPr>
            <a:r>
              <a:rPr lang="en-US" sz="1400" i="1" dirty="0">
                <a:solidFill>
                  <a:srgbClr val="A9B8CF"/>
                </a:solidFill>
              </a:rPr>
              <a:t>A data structures and algorithms project built as a working web shop</a:t>
            </a:r>
            <a:endParaRPr lang="en-US" sz="1400" dirty="0"/>
          </a:p>
        </p:txBody>
      </p:sp>
      <p:sp>
        <p:nvSpPr>
          <p:cNvPr id="6" name="Text 4"/>
          <p:cNvSpPr txBox="1"/>
          <p:nvPr/>
        </p:nvSpPr>
        <p:spPr>
          <a:xfrm>
            <a:off x="640080" y="3657600"/>
            <a:ext cx="7315200" cy="914400"/>
          </a:xfrm>
          <a:prstGeom prst="rect">
            <a:avLst/>
          </a:prstGeom>
          <a:noFill/>
          <a:ln/>
        </p:spPr>
        <p:txBody>
          <a:bodyPr wrap="square" lIns="0" tIns="0" rIns="0" bIns="0" rtlCol="0" anchor="t"/>
          <a:lstStyle/>
          <a:p>
            <a:pPr indent="0" marL="0">
              <a:spcAft>
                <a:spcPts val="400"/>
              </a:spcAft>
              <a:buNone/>
            </a:pPr>
            <a:r>
              <a:rPr lang="en-US" sz="1200" dirty="0">
                <a:solidFill>
                  <a:schemeClr val="bg1"/>
                </a:solidFill>
              </a:rPr>
              <a:t>Aaron Joseph  |  26MCAB01  |  MCA B, 1st Semester</a:t>
            </a:r>
            <a:endParaRPr lang="en-US" sz="1200" dirty="0"/>
          </a:p>
          <a:p>
            <a:pPr indent="0" marL="0">
              <a:spcAft>
                <a:spcPts val="400"/>
              </a:spcAft>
              <a:buNone/>
            </a:pPr>
            <a:r>
              <a:rPr lang="en-US" sz="1200" dirty="0">
                <a:solidFill>
                  <a:schemeClr val="bg1"/>
                </a:solidFill>
              </a:rPr>
              <a:t>Data Structures and Algorithmic Problem Solving</a:t>
            </a:r>
            <a:endParaRPr lang="en-US" sz="1200" dirty="0"/>
          </a:p>
          <a:p>
            <a:pPr indent="0" marL="0">
              <a:spcAft>
                <a:spcPts val="400"/>
              </a:spcAft>
              <a:buNone/>
            </a:pPr>
            <a:r>
              <a:rPr lang="en-US" sz="1200" dirty="0">
                <a:solidFill>
                  <a:schemeClr val="bg1"/>
                </a:solidFill>
              </a:rPr>
              <a:t>Faculty Guide: Dr. Abinaya 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Introduction</a:t>
            </a:r>
            <a:endParaRPr lang="en-US" sz="2600" dirty="0"/>
          </a:p>
        </p:txBody>
      </p:sp>
      <p:sp>
        <p:nvSpPr>
          <p:cNvPr id="3" name="Shape 1"/>
          <p:cNvSpPr/>
          <p:nvPr/>
        </p:nvSpPr>
        <p:spPr>
          <a:xfrm>
            <a:off x="457200" y="1234440"/>
            <a:ext cx="2606040" cy="2331720"/>
          </a:xfrm>
          <a:prstGeom prst="roundRect">
            <a:avLst>
              <a:gd name="adj" fmla="val 3137"/>
            </a:avLst>
          </a:prstGeom>
          <a:solidFill>
            <a:schemeClr val="bg2"/>
          </a:solidFill>
          <a:ln w="9525">
            <a:solidFill>
              <a:srgbClr val="D5DBE3"/>
            </a:solidFill>
            <a:prstDash val="solid"/>
          </a:ln>
        </p:spPr>
      </p:sp>
      <p:sp>
        <p:nvSpPr>
          <p:cNvPr id="4" name="Shape 2"/>
          <p:cNvSpPr/>
          <p:nvPr/>
        </p:nvSpPr>
        <p:spPr>
          <a:xfrm>
            <a:off x="640080" y="1389888"/>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640080" y="13898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43000" y="1417320"/>
            <a:ext cx="182880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The problem</a:t>
            </a:r>
            <a:endParaRPr lang="en-US" sz="1600" dirty="0"/>
          </a:p>
        </p:txBody>
      </p:sp>
      <p:sp>
        <p:nvSpPr>
          <p:cNvPr id="7" name="Text 5"/>
          <p:cNvSpPr txBox="1"/>
          <p:nvPr/>
        </p:nvSpPr>
        <p:spPr>
          <a:xfrm>
            <a:off x="640080" y="1965960"/>
            <a:ext cx="2240280" cy="1508760"/>
          </a:xfrm>
          <a:prstGeom prst="rect">
            <a:avLst/>
          </a:prstGeom>
          <a:noFill/>
          <a:ln/>
        </p:spPr>
        <p:txBody>
          <a:bodyPr wrap="square" lIns="0" tIns="0" rIns="0" bIns="0" rtlCol="0" anchor="t"/>
          <a:lstStyle/>
          <a:p>
            <a:pPr indent="0" marL="0">
              <a:buNone/>
            </a:pPr>
            <a:r>
              <a:rPr lang="en-US" sz="1250" dirty="0">
                <a:solidFill>
                  <a:schemeClr val="tx1"/>
                </a:solidFill>
              </a:rPr>
              <a:t>Computer shops juggle stock, billing, waiting customers and budget questions. Done by hand, this means slow lookups and unorganised records.</a:t>
            </a:r>
            <a:endParaRPr lang="en-US" sz="1250" dirty="0"/>
          </a:p>
        </p:txBody>
      </p:sp>
      <p:sp>
        <p:nvSpPr>
          <p:cNvPr id="8" name="Shape 6"/>
          <p:cNvSpPr/>
          <p:nvPr/>
        </p:nvSpPr>
        <p:spPr>
          <a:xfrm>
            <a:off x="3246120" y="1234440"/>
            <a:ext cx="2606040" cy="2331720"/>
          </a:xfrm>
          <a:prstGeom prst="roundRect">
            <a:avLst>
              <a:gd name="adj" fmla="val 3137"/>
            </a:avLst>
          </a:prstGeom>
          <a:solidFill>
            <a:schemeClr val="bg2"/>
          </a:solidFill>
          <a:ln w="9525">
            <a:solidFill>
              <a:srgbClr val="D5DBE3"/>
            </a:solidFill>
            <a:prstDash val="solid"/>
          </a:ln>
        </p:spPr>
      </p:sp>
      <p:sp>
        <p:nvSpPr>
          <p:cNvPr id="9" name="Shape 7"/>
          <p:cNvSpPr/>
          <p:nvPr/>
        </p:nvSpPr>
        <p:spPr>
          <a:xfrm>
            <a:off x="3429000" y="1389888"/>
            <a:ext cx="384048" cy="384048"/>
          </a:xfrm>
          <a:prstGeom prst="ellipse">
            <a:avLst/>
          </a:prstGeom>
          <a:solidFill>
            <a:schemeClr val="accent4"/>
          </a:solidFill>
          <a:ln w="12700">
            <a:solidFill>
              <a:schemeClr val="accent4"/>
            </a:solidFill>
            <a:prstDash val="solid"/>
          </a:ln>
        </p:spPr>
      </p:sp>
      <p:sp>
        <p:nvSpPr>
          <p:cNvPr id="10" name="Text 8"/>
          <p:cNvSpPr txBox="1"/>
          <p:nvPr/>
        </p:nvSpPr>
        <p:spPr>
          <a:xfrm>
            <a:off x="3429000" y="13898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3931920" y="1417320"/>
            <a:ext cx="182880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The need</a:t>
            </a:r>
            <a:endParaRPr lang="en-US" sz="1600" dirty="0"/>
          </a:p>
        </p:txBody>
      </p:sp>
      <p:sp>
        <p:nvSpPr>
          <p:cNvPr id="12" name="Text 10"/>
          <p:cNvSpPr txBox="1"/>
          <p:nvPr/>
        </p:nvSpPr>
        <p:spPr>
          <a:xfrm>
            <a:off x="3429000" y="1965960"/>
            <a:ext cx="2240280" cy="1508760"/>
          </a:xfrm>
          <a:prstGeom prst="rect">
            <a:avLst/>
          </a:prstGeom>
          <a:noFill/>
          <a:ln/>
        </p:spPr>
        <p:txBody>
          <a:bodyPr wrap="square" lIns="0" tIns="0" rIns="0" bIns="0" rtlCol="0" anchor="t"/>
          <a:lstStyle/>
          <a:p>
            <a:pPr indent="0" marL="0">
              <a:buNone/>
            </a:pPr>
            <a:r>
              <a:rPr lang="en-US" sz="1250" dirty="0">
                <a:solidFill>
                  <a:schemeClr val="tx1"/>
                </a:solidFill>
              </a:rPr>
              <a:t>A lightweight system that stores sales and queue data and finds inventory fast, small enough to read end to end.</a:t>
            </a:r>
            <a:endParaRPr lang="en-US" sz="1250" dirty="0"/>
          </a:p>
        </p:txBody>
      </p:sp>
      <p:sp>
        <p:nvSpPr>
          <p:cNvPr id="13" name="Shape 11"/>
          <p:cNvSpPr/>
          <p:nvPr/>
        </p:nvSpPr>
        <p:spPr>
          <a:xfrm>
            <a:off x="6035040" y="1234440"/>
            <a:ext cx="2606040" cy="2331720"/>
          </a:xfrm>
          <a:prstGeom prst="roundRect">
            <a:avLst>
              <a:gd name="adj" fmla="val 3137"/>
            </a:avLst>
          </a:prstGeom>
          <a:solidFill>
            <a:schemeClr val="bg2"/>
          </a:solidFill>
          <a:ln w="9525">
            <a:solidFill>
              <a:srgbClr val="D5DBE3"/>
            </a:solidFill>
            <a:prstDash val="solid"/>
          </a:ln>
        </p:spPr>
      </p:sp>
      <p:sp>
        <p:nvSpPr>
          <p:cNvPr id="14" name="Shape 12"/>
          <p:cNvSpPr/>
          <p:nvPr/>
        </p:nvSpPr>
        <p:spPr>
          <a:xfrm>
            <a:off x="6217920" y="1389888"/>
            <a:ext cx="384048" cy="384048"/>
          </a:xfrm>
          <a:prstGeom prst="ellipse">
            <a:avLst/>
          </a:prstGeom>
          <a:solidFill>
            <a:schemeClr val="accent3"/>
          </a:solidFill>
          <a:ln w="12700">
            <a:solidFill>
              <a:schemeClr val="accent3"/>
            </a:solidFill>
            <a:prstDash val="solid"/>
          </a:ln>
        </p:spPr>
      </p:sp>
      <p:sp>
        <p:nvSpPr>
          <p:cNvPr id="15" name="Text 13"/>
          <p:cNvSpPr txBox="1"/>
          <p:nvPr/>
        </p:nvSpPr>
        <p:spPr>
          <a:xfrm>
            <a:off x="6217920" y="13898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6720840" y="1417320"/>
            <a:ext cx="182880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The solution</a:t>
            </a:r>
            <a:endParaRPr lang="en-US" sz="1600" dirty="0"/>
          </a:p>
        </p:txBody>
      </p:sp>
      <p:sp>
        <p:nvSpPr>
          <p:cNvPr id="17" name="Text 15"/>
          <p:cNvSpPr txBox="1"/>
          <p:nvPr/>
        </p:nvSpPr>
        <p:spPr>
          <a:xfrm>
            <a:off x="6217920" y="1965960"/>
            <a:ext cx="2240280" cy="1508760"/>
          </a:xfrm>
          <a:prstGeom prst="rect">
            <a:avLst/>
          </a:prstGeom>
          <a:noFill/>
          <a:ln/>
        </p:spPr>
        <p:txBody>
          <a:bodyPr wrap="square" lIns="0" tIns="0" rIns="0" bIns="0" rtlCol="0" anchor="t"/>
          <a:lstStyle/>
          <a:p>
            <a:pPr indent="0" marL="0">
              <a:buNone/>
            </a:pPr>
            <a:r>
              <a:rPr lang="en-US" sz="1250" dirty="0">
                <a:solidFill>
                  <a:schemeClr val="tx1"/>
                </a:solidFill>
              </a:rPr>
              <a:t>A Flask web app on SQLite where each feature is powered by a data structure or algorithm written from scratch.</a:t>
            </a:r>
            <a:endParaRPr lang="en-US" sz="1250" dirty="0"/>
          </a:p>
        </p:txBody>
      </p:sp>
      <p:sp>
        <p:nvSpPr>
          <p:cNvPr id="18" name="Text 16"/>
          <p:cNvSpPr txBox="1"/>
          <p:nvPr/>
        </p:nvSpPr>
        <p:spPr>
          <a:xfrm>
            <a:off x="457200" y="3840480"/>
            <a:ext cx="822960" cy="640080"/>
          </a:xfrm>
          <a:prstGeom prst="rect">
            <a:avLst/>
          </a:prstGeom>
          <a:noFill/>
          <a:ln/>
        </p:spPr>
        <p:txBody>
          <a:bodyPr wrap="square" lIns="0" tIns="0" rIns="0" bIns="0" rtlCol="0" anchor="ctr"/>
          <a:lstStyle/>
          <a:p>
            <a:pPr indent="0" marL="0">
              <a:buNone/>
            </a:pPr>
            <a:r>
              <a:rPr lang="en-US" sz="3600" b="1" dirty="0">
                <a:solidFill>
                  <a:schemeClr val="accent2"/>
                </a:solidFill>
                <a:latin typeface="Georgia" pitchFamily="34" charset="0"/>
                <a:ea typeface="Georgia" pitchFamily="34" charset="-122"/>
                <a:cs typeface="Georgia" pitchFamily="34" charset="-120"/>
              </a:rPr>
              <a:t>18</a:t>
            </a:r>
            <a:endParaRPr lang="en-US" sz="3600" dirty="0"/>
          </a:p>
        </p:txBody>
      </p:sp>
      <p:sp>
        <p:nvSpPr>
          <p:cNvPr id="19" name="Text 17"/>
          <p:cNvSpPr txBox="1"/>
          <p:nvPr/>
        </p:nvSpPr>
        <p:spPr>
          <a:xfrm>
            <a:off x="1234440" y="3840480"/>
            <a:ext cx="1234440" cy="640080"/>
          </a:xfrm>
          <a:prstGeom prst="rect">
            <a:avLst/>
          </a:prstGeom>
          <a:noFill/>
          <a:ln/>
        </p:spPr>
        <p:txBody>
          <a:bodyPr wrap="square" lIns="0" tIns="0" rIns="0" bIns="0" rtlCol="0" anchor="ctr"/>
          <a:lstStyle/>
          <a:p>
            <a:pPr indent="0" marL="0">
              <a:buNone/>
            </a:pPr>
            <a:r>
              <a:rPr lang="en-US" sz="1200" dirty="0">
                <a:solidFill>
                  <a:schemeClr val="accent5"/>
                </a:solidFill>
              </a:rPr>
              <a:t>sample products</a:t>
            </a:r>
            <a:endParaRPr lang="en-US" sz="1200" dirty="0"/>
          </a:p>
        </p:txBody>
      </p:sp>
      <p:sp>
        <p:nvSpPr>
          <p:cNvPr id="20" name="Text 18"/>
          <p:cNvSpPr txBox="1"/>
          <p:nvPr/>
        </p:nvSpPr>
        <p:spPr>
          <a:xfrm>
            <a:off x="2560320" y="3840480"/>
            <a:ext cx="822960" cy="640080"/>
          </a:xfrm>
          <a:prstGeom prst="rect">
            <a:avLst/>
          </a:prstGeom>
          <a:noFill/>
          <a:ln/>
        </p:spPr>
        <p:txBody>
          <a:bodyPr wrap="square" lIns="0" tIns="0" rIns="0" bIns="0" rtlCol="0" anchor="ctr"/>
          <a:lstStyle/>
          <a:p>
            <a:pPr indent="0" marL="0">
              <a:buNone/>
            </a:pPr>
            <a:r>
              <a:rPr lang="en-US" sz="3600" b="1" dirty="0">
                <a:solidFill>
                  <a:schemeClr val="accent2"/>
                </a:solidFill>
                <a:latin typeface="Georgia" pitchFamily="34" charset="0"/>
                <a:ea typeface="Georgia" pitchFamily="34" charset="-122"/>
                <a:cs typeface="Georgia" pitchFamily="34" charset="-120"/>
              </a:rPr>
              <a:t>9</a:t>
            </a:r>
            <a:endParaRPr lang="en-US" sz="3600" dirty="0"/>
          </a:p>
        </p:txBody>
      </p:sp>
      <p:sp>
        <p:nvSpPr>
          <p:cNvPr id="21" name="Text 19"/>
          <p:cNvSpPr txBox="1"/>
          <p:nvPr/>
        </p:nvSpPr>
        <p:spPr>
          <a:xfrm>
            <a:off x="3337560" y="3840480"/>
            <a:ext cx="1234440" cy="640080"/>
          </a:xfrm>
          <a:prstGeom prst="rect">
            <a:avLst/>
          </a:prstGeom>
          <a:noFill/>
          <a:ln/>
        </p:spPr>
        <p:txBody>
          <a:bodyPr wrap="square" lIns="0" tIns="0" rIns="0" bIns="0" rtlCol="0" anchor="ctr"/>
          <a:lstStyle/>
          <a:p>
            <a:pPr indent="0" marL="0">
              <a:buNone/>
            </a:pPr>
            <a:r>
              <a:rPr lang="en-US" sz="1200" dirty="0">
                <a:solidFill>
                  <a:schemeClr val="accent5"/>
                </a:solidFill>
              </a:rPr>
              <a:t>categories</a:t>
            </a:r>
            <a:endParaRPr lang="en-US" sz="1200" dirty="0"/>
          </a:p>
        </p:txBody>
      </p:sp>
      <p:sp>
        <p:nvSpPr>
          <p:cNvPr id="22" name="Text 20"/>
          <p:cNvSpPr txBox="1"/>
          <p:nvPr/>
        </p:nvSpPr>
        <p:spPr>
          <a:xfrm>
            <a:off x="4663440" y="3840480"/>
            <a:ext cx="822960" cy="640080"/>
          </a:xfrm>
          <a:prstGeom prst="rect">
            <a:avLst/>
          </a:prstGeom>
          <a:noFill/>
          <a:ln/>
        </p:spPr>
        <p:txBody>
          <a:bodyPr wrap="square" lIns="0" tIns="0" rIns="0" bIns="0" rtlCol="0" anchor="ctr"/>
          <a:lstStyle/>
          <a:p>
            <a:pPr indent="0" marL="0">
              <a:buNone/>
            </a:pPr>
            <a:r>
              <a:rPr lang="en-US" sz="3600" b="1" dirty="0">
                <a:solidFill>
                  <a:schemeClr val="accent2"/>
                </a:solidFill>
                <a:latin typeface="Georgia" pitchFamily="34" charset="0"/>
                <a:ea typeface="Georgia" pitchFamily="34" charset="-122"/>
                <a:cs typeface="Georgia" pitchFamily="34" charset="-120"/>
              </a:rPr>
              <a:t>5</a:t>
            </a:r>
            <a:endParaRPr lang="en-US" sz="3600" dirty="0"/>
          </a:p>
        </p:txBody>
      </p:sp>
      <p:sp>
        <p:nvSpPr>
          <p:cNvPr id="23" name="Text 21"/>
          <p:cNvSpPr txBox="1"/>
          <p:nvPr/>
        </p:nvSpPr>
        <p:spPr>
          <a:xfrm>
            <a:off x="5440680" y="3840480"/>
            <a:ext cx="1234440" cy="640080"/>
          </a:xfrm>
          <a:prstGeom prst="rect">
            <a:avLst/>
          </a:prstGeom>
          <a:noFill/>
          <a:ln/>
        </p:spPr>
        <p:txBody>
          <a:bodyPr wrap="square" lIns="0" tIns="0" rIns="0" bIns="0" rtlCol="0" anchor="ctr"/>
          <a:lstStyle/>
          <a:p>
            <a:pPr indent="0" marL="0">
              <a:buNone/>
            </a:pPr>
            <a:r>
              <a:rPr lang="en-US" sz="1200" dirty="0">
                <a:solidFill>
                  <a:schemeClr val="accent5"/>
                </a:solidFill>
              </a:rPr>
              <a:t>data structures</a:t>
            </a:r>
            <a:endParaRPr lang="en-US" sz="1200" dirty="0"/>
          </a:p>
        </p:txBody>
      </p:sp>
      <p:sp>
        <p:nvSpPr>
          <p:cNvPr id="24" name="Text 22"/>
          <p:cNvSpPr txBox="1"/>
          <p:nvPr/>
        </p:nvSpPr>
        <p:spPr>
          <a:xfrm>
            <a:off x="6766560" y="3840480"/>
            <a:ext cx="822960" cy="640080"/>
          </a:xfrm>
          <a:prstGeom prst="rect">
            <a:avLst/>
          </a:prstGeom>
          <a:noFill/>
          <a:ln/>
        </p:spPr>
        <p:txBody>
          <a:bodyPr wrap="square" lIns="0" tIns="0" rIns="0" bIns="0" rtlCol="0" anchor="ctr"/>
          <a:lstStyle/>
          <a:p>
            <a:pPr indent="0" marL="0">
              <a:buNone/>
            </a:pPr>
            <a:r>
              <a:rPr lang="en-US" sz="3600" b="1" dirty="0">
                <a:solidFill>
                  <a:schemeClr val="accent2"/>
                </a:solidFill>
                <a:latin typeface="Georgia" pitchFamily="34" charset="0"/>
                <a:ea typeface="Georgia" pitchFamily="34" charset="-122"/>
                <a:cs typeface="Georgia" pitchFamily="34" charset="-120"/>
              </a:rPr>
              <a:t>5</a:t>
            </a:r>
            <a:endParaRPr lang="en-US" sz="3600" dirty="0"/>
          </a:p>
        </p:txBody>
      </p:sp>
      <p:sp>
        <p:nvSpPr>
          <p:cNvPr id="25" name="Text 23"/>
          <p:cNvSpPr txBox="1"/>
          <p:nvPr/>
        </p:nvSpPr>
        <p:spPr>
          <a:xfrm>
            <a:off x="7543800" y="3840480"/>
            <a:ext cx="1234440" cy="640080"/>
          </a:xfrm>
          <a:prstGeom prst="rect">
            <a:avLst/>
          </a:prstGeom>
          <a:noFill/>
          <a:ln/>
        </p:spPr>
        <p:txBody>
          <a:bodyPr wrap="square" lIns="0" tIns="0" rIns="0" bIns="0" rtlCol="0" anchor="ctr"/>
          <a:lstStyle/>
          <a:p>
            <a:pPr indent="0" marL="0">
              <a:buNone/>
            </a:pPr>
            <a:r>
              <a:rPr lang="en-US" sz="1200" dirty="0">
                <a:solidFill>
                  <a:schemeClr val="accent5"/>
                </a:solidFill>
              </a:rPr>
              <a:t>algorithms</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Objectives</a:t>
            </a:r>
            <a:endParaRPr lang="en-US" sz="2600" dirty="0"/>
          </a:p>
        </p:txBody>
      </p:sp>
      <p:sp>
        <p:nvSpPr>
          <p:cNvPr id="3" name="Shape 1"/>
          <p:cNvSpPr/>
          <p:nvPr/>
        </p:nvSpPr>
        <p:spPr>
          <a:xfrm>
            <a:off x="457200" y="1188720"/>
            <a:ext cx="8229600" cy="585216"/>
          </a:xfrm>
          <a:prstGeom prst="roundRect">
            <a:avLst>
              <a:gd name="adj" fmla="val 12500"/>
            </a:avLst>
          </a:prstGeom>
          <a:solidFill>
            <a:schemeClr val="bg2"/>
          </a:solidFill>
          <a:ln w="9525">
            <a:solidFill>
              <a:srgbClr val="D5DBE3"/>
            </a:solidFill>
            <a:prstDash val="solid"/>
          </a:ln>
        </p:spPr>
      </p:sp>
      <p:sp>
        <p:nvSpPr>
          <p:cNvPr id="4" name="Shape 2"/>
          <p:cNvSpPr/>
          <p:nvPr/>
        </p:nvSpPr>
        <p:spPr>
          <a:xfrm>
            <a:off x="621792" y="1289304"/>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621792" y="12893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234440" y="1188720"/>
            <a:ext cx="7269480" cy="585216"/>
          </a:xfrm>
          <a:prstGeom prst="rect">
            <a:avLst/>
          </a:prstGeom>
          <a:noFill/>
          <a:ln/>
        </p:spPr>
        <p:txBody>
          <a:bodyPr wrap="square" lIns="0" tIns="0" rIns="0" bIns="0" rtlCol="0" anchor="ctr"/>
          <a:lstStyle/>
          <a:p>
            <a:pPr indent="0" marL="0">
              <a:buNone/>
            </a:pPr>
            <a:r>
              <a:rPr lang="en-US" sz="1400" dirty="0">
                <a:solidFill>
                  <a:schemeClr val="tx1"/>
                </a:solidFill>
              </a:rPr>
              <a:t>Implement a linked list, a LIFO stack and a FIFO queue for sales records, billing and the service line.</a:t>
            </a:r>
            <a:endParaRPr lang="en-US" sz="1400" dirty="0"/>
          </a:p>
        </p:txBody>
      </p:sp>
      <p:sp>
        <p:nvSpPr>
          <p:cNvPr id="7" name="Shape 5"/>
          <p:cNvSpPr/>
          <p:nvPr/>
        </p:nvSpPr>
        <p:spPr>
          <a:xfrm>
            <a:off x="457200" y="1901952"/>
            <a:ext cx="8229600" cy="585216"/>
          </a:xfrm>
          <a:prstGeom prst="roundRect">
            <a:avLst>
              <a:gd name="adj" fmla="val 12500"/>
            </a:avLst>
          </a:prstGeom>
          <a:solidFill>
            <a:schemeClr val="bg2"/>
          </a:solidFill>
          <a:ln w="9525">
            <a:solidFill>
              <a:srgbClr val="D5DBE3"/>
            </a:solidFill>
            <a:prstDash val="solid"/>
          </a:ln>
        </p:spPr>
      </p:sp>
      <p:sp>
        <p:nvSpPr>
          <p:cNvPr id="8" name="Shape 6"/>
          <p:cNvSpPr/>
          <p:nvPr/>
        </p:nvSpPr>
        <p:spPr>
          <a:xfrm>
            <a:off x="621792" y="2002536"/>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621792" y="20025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234440" y="1901952"/>
            <a:ext cx="7269480" cy="585216"/>
          </a:xfrm>
          <a:prstGeom prst="rect">
            <a:avLst/>
          </a:prstGeom>
          <a:noFill/>
          <a:ln/>
        </p:spPr>
        <p:txBody>
          <a:bodyPr wrap="square" lIns="0" tIns="0" rIns="0" bIns="0" rtlCol="0" anchor="ctr"/>
          <a:lstStyle/>
          <a:p>
            <a:pPr indent="0" marL="0">
              <a:buNone/>
            </a:pPr>
            <a:r>
              <a:rPr lang="en-US" sz="1400" dirty="0">
                <a:solidFill>
                  <a:schemeClr val="tx1"/>
                </a:solidFill>
              </a:rPr>
              <a:t>Model hardware components as a graph and traverse it with breadth-first search.</a:t>
            </a:r>
            <a:endParaRPr lang="en-US" sz="1400" dirty="0"/>
          </a:p>
        </p:txBody>
      </p:sp>
      <p:sp>
        <p:nvSpPr>
          <p:cNvPr id="11" name="Shape 9"/>
          <p:cNvSpPr/>
          <p:nvPr/>
        </p:nvSpPr>
        <p:spPr>
          <a:xfrm>
            <a:off x="457200" y="2615184"/>
            <a:ext cx="8229600" cy="585216"/>
          </a:xfrm>
          <a:prstGeom prst="roundRect">
            <a:avLst>
              <a:gd name="adj" fmla="val 12500"/>
            </a:avLst>
          </a:prstGeom>
          <a:solidFill>
            <a:schemeClr val="bg2"/>
          </a:solidFill>
          <a:ln w="9525">
            <a:solidFill>
              <a:srgbClr val="D5DBE3"/>
            </a:solidFill>
            <a:prstDash val="solid"/>
          </a:ln>
        </p:spPr>
      </p:sp>
      <p:sp>
        <p:nvSpPr>
          <p:cNvPr id="12" name="Shape 10"/>
          <p:cNvSpPr/>
          <p:nvPr/>
        </p:nvSpPr>
        <p:spPr>
          <a:xfrm>
            <a:off x="621792" y="2715768"/>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621792" y="27157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2"/>
          <p:cNvSpPr txBox="1"/>
          <p:nvPr/>
        </p:nvSpPr>
        <p:spPr>
          <a:xfrm>
            <a:off x="1234440" y="2615184"/>
            <a:ext cx="7269480" cy="585216"/>
          </a:xfrm>
          <a:prstGeom prst="rect">
            <a:avLst/>
          </a:prstGeom>
          <a:noFill/>
          <a:ln/>
        </p:spPr>
        <p:txBody>
          <a:bodyPr wrap="square" lIns="0" tIns="0" rIns="0" bIns="0" rtlCol="0" anchor="ctr"/>
          <a:lstStyle/>
          <a:p>
            <a:pPr indent="0" marL="0">
              <a:buNone/>
            </a:pPr>
            <a:r>
              <a:rPr lang="en-US" sz="1400" dirty="0">
                <a:solidFill>
                  <a:schemeClr val="tx1"/>
                </a:solidFill>
              </a:rPr>
              <a:t>Implement linear search, binary search and merge sort for product discovery.</a:t>
            </a:r>
            <a:endParaRPr lang="en-US" sz="1400" dirty="0"/>
          </a:p>
        </p:txBody>
      </p:sp>
      <p:sp>
        <p:nvSpPr>
          <p:cNvPr id="15" name="Shape 13"/>
          <p:cNvSpPr/>
          <p:nvPr/>
        </p:nvSpPr>
        <p:spPr>
          <a:xfrm>
            <a:off x="457200" y="3328416"/>
            <a:ext cx="8229600" cy="585216"/>
          </a:xfrm>
          <a:prstGeom prst="roundRect">
            <a:avLst>
              <a:gd name="adj" fmla="val 12500"/>
            </a:avLst>
          </a:prstGeom>
          <a:solidFill>
            <a:schemeClr val="bg2"/>
          </a:solidFill>
          <a:ln w="9525">
            <a:solidFill>
              <a:srgbClr val="D5DBE3"/>
            </a:solidFill>
            <a:prstDash val="solid"/>
          </a:ln>
        </p:spPr>
      </p:sp>
      <p:sp>
        <p:nvSpPr>
          <p:cNvPr id="16" name="Shape 14"/>
          <p:cNvSpPr/>
          <p:nvPr/>
        </p:nvSpPr>
        <p:spPr>
          <a:xfrm>
            <a:off x="621792" y="342900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621792" y="34290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234440" y="3328416"/>
            <a:ext cx="7269480" cy="585216"/>
          </a:xfrm>
          <a:prstGeom prst="rect">
            <a:avLst/>
          </a:prstGeom>
          <a:noFill/>
          <a:ln/>
        </p:spPr>
        <p:txBody>
          <a:bodyPr wrap="square" lIns="0" tIns="0" rIns="0" bIns="0" rtlCol="0" anchor="ctr"/>
          <a:lstStyle/>
          <a:p>
            <a:pPr indent="0" marL="0">
              <a:buNone/>
            </a:pPr>
            <a:r>
              <a:rPr lang="en-US" sz="1400" dirty="0">
                <a:solidFill>
                  <a:schemeClr val="tx1"/>
                </a:solidFill>
              </a:rPr>
              <a:t>Solve budget-based part selection with a greedy algorithm.</a:t>
            </a:r>
            <a:endParaRPr lang="en-US" sz="1400" dirty="0"/>
          </a:p>
        </p:txBody>
      </p:sp>
      <p:sp>
        <p:nvSpPr>
          <p:cNvPr id="19" name="Shape 17"/>
          <p:cNvSpPr/>
          <p:nvPr/>
        </p:nvSpPr>
        <p:spPr>
          <a:xfrm>
            <a:off x="457200" y="4041648"/>
            <a:ext cx="8229600" cy="585216"/>
          </a:xfrm>
          <a:prstGeom prst="roundRect">
            <a:avLst>
              <a:gd name="adj" fmla="val 12500"/>
            </a:avLst>
          </a:prstGeom>
          <a:solidFill>
            <a:schemeClr val="bg2"/>
          </a:solidFill>
          <a:ln w="9525">
            <a:solidFill>
              <a:srgbClr val="D5DBE3"/>
            </a:solidFill>
            <a:prstDash val="solid"/>
          </a:ln>
        </p:spPr>
      </p:sp>
      <p:sp>
        <p:nvSpPr>
          <p:cNvPr id="20" name="Shape 18"/>
          <p:cNvSpPr/>
          <p:nvPr/>
        </p:nvSpPr>
        <p:spPr>
          <a:xfrm>
            <a:off x="621792" y="4142232"/>
            <a:ext cx="384048" cy="384048"/>
          </a:xfrm>
          <a:prstGeom prst="ellipse">
            <a:avLst/>
          </a:prstGeom>
          <a:solidFill>
            <a:schemeClr val="accent2"/>
          </a:solidFill>
          <a:ln w="12700">
            <a:solidFill>
              <a:schemeClr val="accent2"/>
            </a:solidFill>
            <a:prstDash val="solid"/>
          </a:ln>
        </p:spPr>
      </p:sp>
      <p:sp>
        <p:nvSpPr>
          <p:cNvPr id="21" name="Text 19"/>
          <p:cNvSpPr txBox="1"/>
          <p:nvPr/>
        </p:nvSpPr>
        <p:spPr>
          <a:xfrm>
            <a:off x="621792" y="4142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Text 20"/>
          <p:cNvSpPr txBox="1"/>
          <p:nvPr/>
        </p:nvSpPr>
        <p:spPr>
          <a:xfrm>
            <a:off x="1234440" y="4041648"/>
            <a:ext cx="7269480" cy="585216"/>
          </a:xfrm>
          <a:prstGeom prst="rect">
            <a:avLst/>
          </a:prstGeom>
          <a:noFill/>
          <a:ln/>
        </p:spPr>
        <p:txBody>
          <a:bodyPr wrap="square" lIns="0" tIns="0" rIns="0" bIns="0" rtlCol="0" anchor="ctr"/>
          <a:lstStyle/>
          <a:p>
            <a:pPr indent="0" marL="0">
              <a:buNone/>
            </a:pPr>
            <a:r>
              <a:rPr lang="en-US" sz="1400" dirty="0">
                <a:solidFill>
                  <a:schemeClr val="tx1"/>
                </a:solidFill>
              </a:rPr>
              <a:t>Bring every structure and algorithm together in one presentable web application.</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Phase-wise work: Phases 1 and 2</a:t>
            </a:r>
            <a:endParaRPr lang="en-US" sz="2600" dirty="0"/>
          </a:p>
        </p:txBody>
      </p:sp>
      <p:sp>
        <p:nvSpPr>
          <p:cNvPr id="3" name="Shape 1"/>
          <p:cNvSpPr/>
          <p:nvPr/>
        </p:nvSpPr>
        <p:spPr>
          <a:xfrm>
            <a:off x="457200" y="1188720"/>
            <a:ext cx="4023360" cy="3520440"/>
          </a:xfrm>
          <a:prstGeom prst="roundRect">
            <a:avLst>
              <a:gd name="adj" fmla="val 2078"/>
            </a:avLst>
          </a:prstGeom>
          <a:solidFill>
            <a:schemeClr val="bg2"/>
          </a:solidFill>
          <a:ln w="9525">
            <a:solidFill>
              <a:srgbClr val="D5DBE3"/>
            </a:solidFill>
            <a:prstDash val="solid"/>
          </a:ln>
        </p:spPr>
      </p:sp>
      <p:sp>
        <p:nvSpPr>
          <p:cNvPr id="4" name="Shape 2"/>
          <p:cNvSpPr/>
          <p:nvPr/>
        </p:nvSpPr>
        <p:spPr>
          <a:xfrm>
            <a:off x="457200" y="1188720"/>
            <a:ext cx="4023360" cy="566928"/>
          </a:xfrm>
          <a:prstGeom prst="roundRect">
            <a:avLst>
              <a:gd name="adj" fmla="val 12903"/>
            </a:avLst>
          </a:prstGeom>
          <a:solidFill>
            <a:schemeClr val="accent1"/>
          </a:solidFill>
          <a:ln w="12700">
            <a:solidFill>
              <a:schemeClr val="accent1"/>
            </a:solidFill>
            <a:prstDash val="solid"/>
          </a:ln>
        </p:spPr>
      </p:sp>
      <p:sp>
        <p:nvSpPr>
          <p:cNvPr id="5" name="Text 3"/>
          <p:cNvSpPr txBox="1"/>
          <p:nvPr/>
        </p:nvSpPr>
        <p:spPr>
          <a:xfrm>
            <a:off x="640080" y="1188720"/>
            <a:ext cx="3657600" cy="566928"/>
          </a:xfrm>
          <a:prstGeom prst="rect">
            <a:avLst/>
          </a:prstGeom>
          <a:noFill/>
          <a:ln/>
        </p:spPr>
        <p:txBody>
          <a:bodyPr wrap="square" lIns="0" tIns="0" rIns="0" bIns="0" rtlCol="0" anchor="ctr"/>
          <a:lstStyle/>
          <a:p>
            <a:pPr indent="0" marL="0">
              <a:buNone/>
            </a:pPr>
            <a:r>
              <a:rPr lang="en-US" sz="1500" b="1" dirty="0">
                <a:solidFill>
                  <a:schemeClr val="bg1"/>
                </a:solidFill>
              </a:rPr>
              <a:t>Phase 1: Core data structures</a:t>
            </a:r>
            <a:endParaRPr lang="en-US" sz="1500" dirty="0"/>
          </a:p>
        </p:txBody>
      </p:sp>
      <p:sp>
        <p:nvSpPr>
          <p:cNvPr id="6" name="Text 4"/>
          <p:cNvSpPr txBox="1"/>
          <p:nvPr/>
        </p:nvSpPr>
        <p:spPr>
          <a:xfrm>
            <a:off x="640080" y="1920240"/>
            <a:ext cx="3657600" cy="27432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F3A5F"/>
                </a:solidFill>
              </a:rPr>
              <a:t>Array (product inventory)</a:t>
            </a:r>
            <a:pPr indent="0" marL="0">
              <a:spcAft>
                <a:spcPts val="700"/>
              </a:spcAft>
              <a:buNone/>
            </a:pPr>
            <a:r>
              <a:rPr lang="en-US" sz="1250" dirty="0">
                <a:solidFill>
                  <a:schemeClr val="tx1"/>
                </a:solidFill>
              </a:rPr>
              <a:t>: simple storage of products with fast direct access</a:t>
            </a:r>
            <a:endParaRPr lang="en-US" sz="1250" dirty="0"/>
          </a:p>
          <a:p>
            <a:pPr marL="177800" indent="-177800">
              <a:spcAft>
                <a:spcPts val="700"/>
              </a:spcAft>
              <a:buSzPct val="100000"/>
              <a:buChar char="•"/>
            </a:pPr>
            <a:r>
              <a:rPr lang="en-US" sz="1250" b="1" dirty="0">
                <a:solidFill>
                  <a:srgbClr val="1F3A5F"/>
                </a:solidFill>
              </a:rPr>
              <a:t>Linked list (sales history)</a:t>
            </a:r>
            <a:pPr indent="0" marL="0">
              <a:spcAft>
                <a:spcPts val="700"/>
              </a:spcAft>
              <a:buNone/>
            </a:pPr>
            <a:r>
              <a:rPr lang="en-US" sz="1250" dirty="0">
                <a:solidFill>
                  <a:schemeClr val="tx1"/>
                </a:solidFill>
              </a:rPr>
              <a:t>: sales keep increasing dynamically, so new sales are added at the head</a:t>
            </a:r>
            <a:endParaRPr lang="en-US" sz="1250" dirty="0"/>
          </a:p>
          <a:p>
            <a:pPr marL="177800" indent="-177800">
              <a:spcAft>
                <a:spcPts val="700"/>
              </a:spcAft>
              <a:buSzPct val="100000"/>
              <a:buChar char="•"/>
            </a:pPr>
            <a:r>
              <a:rPr lang="en-US" sz="1250" b="1" dirty="0">
                <a:solidFill>
                  <a:srgbClr val="1F3A5F"/>
                </a:solidFill>
              </a:rPr>
              <a:t>Queue (customer service waiting list)</a:t>
            </a:r>
            <a:pPr indent="0" marL="0">
              <a:spcAft>
                <a:spcPts val="700"/>
              </a:spcAft>
              <a:buNone/>
            </a:pPr>
            <a:r>
              <a:rPr lang="en-US" sz="1250" dirty="0">
                <a:solidFill>
                  <a:schemeClr val="tx1"/>
                </a:solidFill>
              </a:rPr>
              <a:t>: customers are served in FIFO order</a:t>
            </a:r>
            <a:endParaRPr lang="en-US" sz="1250" dirty="0"/>
          </a:p>
          <a:p>
            <a:pPr marL="177800" indent="-177800">
              <a:spcAft>
                <a:spcPts val="700"/>
              </a:spcAft>
              <a:buSzPct val="100000"/>
              <a:buChar char="•"/>
            </a:pPr>
            <a:r>
              <a:rPr lang="en-US" sz="1250" b="1" dirty="0">
                <a:solidFill>
                  <a:srgbClr val="1F3A5F"/>
                </a:solidFill>
              </a:rPr>
              <a:t>Stack (undo last operation)</a:t>
            </a:r>
            <a:pPr indent="0" marL="0">
              <a:spcAft>
                <a:spcPts val="700"/>
              </a:spcAft>
              <a:buNone/>
            </a:pPr>
            <a:r>
              <a:rPr lang="en-US" sz="1250" dirty="0">
                <a:solidFill>
                  <a:schemeClr val="tx1"/>
                </a:solidFill>
              </a:rPr>
              <a:t>: the latest action is undone first using LIFO; in the code it also drives the step-by-step bill</a:t>
            </a:r>
            <a:endParaRPr lang="en-US" sz="1250" dirty="0"/>
          </a:p>
        </p:txBody>
      </p:sp>
      <p:sp>
        <p:nvSpPr>
          <p:cNvPr id="7" name="Shape 5"/>
          <p:cNvSpPr/>
          <p:nvPr/>
        </p:nvSpPr>
        <p:spPr>
          <a:xfrm>
            <a:off x="4663440" y="1188720"/>
            <a:ext cx="4023360" cy="3520440"/>
          </a:xfrm>
          <a:prstGeom prst="roundRect">
            <a:avLst>
              <a:gd name="adj" fmla="val 2078"/>
            </a:avLst>
          </a:prstGeom>
          <a:solidFill>
            <a:schemeClr val="bg2"/>
          </a:solidFill>
          <a:ln w="9525">
            <a:solidFill>
              <a:srgbClr val="D5DBE3"/>
            </a:solidFill>
            <a:prstDash val="solid"/>
          </a:ln>
        </p:spPr>
      </p:sp>
      <p:sp>
        <p:nvSpPr>
          <p:cNvPr id="8" name="Shape 6"/>
          <p:cNvSpPr/>
          <p:nvPr/>
        </p:nvSpPr>
        <p:spPr>
          <a:xfrm>
            <a:off x="4663440" y="1188720"/>
            <a:ext cx="4023360" cy="566928"/>
          </a:xfrm>
          <a:prstGeom prst="roundRect">
            <a:avLst>
              <a:gd name="adj" fmla="val 12903"/>
            </a:avLst>
          </a:prstGeom>
          <a:solidFill>
            <a:schemeClr val="accent2"/>
          </a:solidFill>
          <a:ln w="12700">
            <a:solidFill>
              <a:schemeClr val="accent2"/>
            </a:solidFill>
            <a:prstDash val="solid"/>
          </a:ln>
        </p:spPr>
      </p:sp>
      <p:sp>
        <p:nvSpPr>
          <p:cNvPr id="9" name="Text 7"/>
          <p:cNvSpPr txBox="1"/>
          <p:nvPr/>
        </p:nvSpPr>
        <p:spPr>
          <a:xfrm>
            <a:off x="4846320" y="1188720"/>
            <a:ext cx="3657600" cy="566928"/>
          </a:xfrm>
          <a:prstGeom prst="rect">
            <a:avLst/>
          </a:prstGeom>
          <a:noFill/>
          <a:ln/>
        </p:spPr>
        <p:txBody>
          <a:bodyPr wrap="square" lIns="0" tIns="0" rIns="0" bIns="0" rtlCol="0" anchor="ctr"/>
          <a:lstStyle/>
          <a:p>
            <a:pPr indent="0" marL="0">
              <a:buNone/>
            </a:pPr>
            <a:r>
              <a:rPr lang="en-US" sz="1500" b="1" dirty="0">
                <a:solidFill>
                  <a:schemeClr val="bg1"/>
                </a:solidFill>
              </a:rPr>
              <a:t>Phase 2: Graph traversal</a:t>
            </a:r>
            <a:endParaRPr lang="en-US" sz="1500" dirty="0"/>
          </a:p>
        </p:txBody>
      </p:sp>
      <p:sp>
        <p:nvSpPr>
          <p:cNvPr id="10" name="Text 8"/>
          <p:cNvSpPr txBox="1"/>
          <p:nvPr/>
        </p:nvSpPr>
        <p:spPr>
          <a:xfrm>
            <a:off x="4846320" y="1920240"/>
            <a:ext cx="3657600" cy="27432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F3A5F"/>
                </a:solidFill>
              </a:rPr>
              <a:t>BFS (traverse the component graph)</a:t>
            </a:r>
            <a:pPr indent="0" marL="0">
              <a:spcAft>
                <a:spcPts val="700"/>
              </a:spcAft>
              <a:buNone/>
            </a:pPr>
            <a:r>
              <a:rPr lang="en-US" sz="1250" dirty="0">
                <a:solidFill>
                  <a:schemeClr val="tx1"/>
                </a:solidFill>
              </a:rPr>
              <a:t>: find related (compatible) components level by level</a:t>
            </a:r>
            <a:endParaRPr lang="en-US" sz="1250" dirty="0"/>
          </a:p>
          <a:p>
            <a:pPr marL="177800" indent="-177800">
              <a:spcAft>
                <a:spcPts val="700"/>
              </a:spcAft>
              <a:buSzPct val="100000"/>
              <a:buChar char="•"/>
            </a:pPr>
            <a:r>
              <a:rPr lang="en-US" sz="1250" b="1" dirty="0">
                <a:solidFill>
                  <a:srgbClr val="1F3A5F"/>
                </a:solidFill>
              </a:rPr>
              <a:t>In the project</a:t>
            </a:r>
            <a:pPr indent="0" marL="0">
              <a:spcAft>
                <a:spcPts val="700"/>
              </a:spcAft>
              <a:buNone/>
            </a:pPr>
            <a:r>
              <a:rPr lang="en-US" sz="1250" dirty="0">
                <a:solidFill>
                  <a:schemeClr val="tx1"/>
                </a:solidFill>
              </a:rPr>
              <a:t>: parts such as Computer, Laptop, Desktop, RAM, SSD and GPU are nodes, and bfs_traversal returns the visiting order and tree edges</a:t>
            </a:r>
            <a:endParaRPr lang="en-US" sz="12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Phase-wise work: Phases 3 and 4</a:t>
            </a:r>
            <a:endParaRPr lang="en-US" sz="2600" dirty="0"/>
          </a:p>
        </p:txBody>
      </p:sp>
      <p:sp>
        <p:nvSpPr>
          <p:cNvPr id="3" name="Shape 1"/>
          <p:cNvSpPr/>
          <p:nvPr/>
        </p:nvSpPr>
        <p:spPr>
          <a:xfrm>
            <a:off x="457200" y="1188720"/>
            <a:ext cx="4023360" cy="3520440"/>
          </a:xfrm>
          <a:prstGeom prst="roundRect">
            <a:avLst>
              <a:gd name="adj" fmla="val 2078"/>
            </a:avLst>
          </a:prstGeom>
          <a:solidFill>
            <a:schemeClr val="bg2"/>
          </a:solidFill>
          <a:ln w="9525">
            <a:solidFill>
              <a:srgbClr val="D5DBE3"/>
            </a:solidFill>
            <a:prstDash val="solid"/>
          </a:ln>
        </p:spPr>
      </p:sp>
      <p:sp>
        <p:nvSpPr>
          <p:cNvPr id="4" name="Shape 2"/>
          <p:cNvSpPr/>
          <p:nvPr/>
        </p:nvSpPr>
        <p:spPr>
          <a:xfrm>
            <a:off x="457200" y="1188720"/>
            <a:ext cx="4023360" cy="566928"/>
          </a:xfrm>
          <a:prstGeom prst="roundRect">
            <a:avLst>
              <a:gd name="adj" fmla="val 12903"/>
            </a:avLst>
          </a:prstGeom>
          <a:solidFill>
            <a:schemeClr val="accent1"/>
          </a:solidFill>
          <a:ln w="12700">
            <a:solidFill>
              <a:schemeClr val="accent1"/>
            </a:solidFill>
            <a:prstDash val="solid"/>
          </a:ln>
        </p:spPr>
      </p:sp>
      <p:sp>
        <p:nvSpPr>
          <p:cNvPr id="5" name="Text 3"/>
          <p:cNvSpPr txBox="1"/>
          <p:nvPr/>
        </p:nvSpPr>
        <p:spPr>
          <a:xfrm>
            <a:off x="640080" y="1188720"/>
            <a:ext cx="3657600" cy="566928"/>
          </a:xfrm>
          <a:prstGeom prst="rect">
            <a:avLst/>
          </a:prstGeom>
          <a:noFill/>
          <a:ln/>
        </p:spPr>
        <p:txBody>
          <a:bodyPr wrap="square" lIns="0" tIns="0" rIns="0" bIns="0" rtlCol="0" anchor="ctr"/>
          <a:lstStyle/>
          <a:p>
            <a:pPr indent="0" marL="0">
              <a:buNone/>
            </a:pPr>
            <a:r>
              <a:rPr lang="en-US" sz="1500" b="1" dirty="0">
                <a:solidFill>
                  <a:schemeClr val="bg1"/>
                </a:solidFill>
              </a:rPr>
              <a:t>Phase 3: Searching and sorting</a:t>
            </a:r>
            <a:endParaRPr lang="en-US" sz="1500" dirty="0"/>
          </a:p>
        </p:txBody>
      </p:sp>
      <p:sp>
        <p:nvSpPr>
          <p:cNvPr id="6" name="Text 4"/>
          <p:cNvSpPr txBox="1"/>
          <p:nvPr/>
        </p:nvSpPr>
        <p:spPr>
          <a:xfrm>
            <a:off x="640080" y="1920240"/>
            <a:ext cx="3657600" cy="27432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F3A5F"/>
                </a:solidFill>
              </a:rPr>
              <a:t>Binary search (search products by product ID)</a:t>
            </a:r>
            <a:pPr indent="0" marL="0">
              <a:spcAft>
                <a:spcPts val="700"/>
              </a:spcAft>
              <a:buNone/>
            </a:pPr>
            <a:r>
              <a:rPr lang="en-US" sz="1250" dirty="0">
                <a:solidFill>
                  <a:schemeClr val="tx1"/>
                </a:solidFill>
              </a:rPr>
              <a:t>: faster search, worst case O(log n)</a:t>
            </a:r>
            <a:endParaRPr lang="en-US" sz="1250" dirty="0"/>
          </a:p>
          <a:p>
            <a:pPr marL="177800" indent="-177800">
              <a:spcAft>
                <a:spcPts val="700"/>
              </a:spcAft>
              <a:buSzPct val="100000"/>
              <a:buChar char="•"/>
            </a:pPr>
            <a:r>
              <a:rPr lang="en-US" sz="1250" b="1" dirty="0">
                <a:solidFill>
                  <a:srgbClr val="1F3A5F"/>
                </a:solidFill>
              </a:rPr>
              <a:t>Merge sort (sort products by price or name)</a:t>
            </a:r>
            <a:pPr indent="0" marL="0">
              <a:spcAft>
                <a:spcPts val="700"/>
              </a:spcAft>
              <a:buNone/>
            </a:pPr>
            <a:r>
              <a:rPr lang="en-US" sz="1250" dirty="0">
                <a:solidFill>
                  <a:schemeClr val="tx1"/>
                </a:solidFill>
              </a:rPr>
              <a:t>: efficient sorting, worst case O(n log n)</a:t>
            </a:r>
            <a:endParaRPr lang="en-US" sz="1250" dirty="0"/>
          </a:p>
        </p:txBody>
      </p:sp>
      <p:sp>
        <p:nvSpPr>
          <p:cNvPr id="7" name="Shape 5"/>
          <p:cNvSpPr/>
          <p:nvPr/>
        </p:nvSpPr>
        <p:spPr>
          <a:xfrm>
            <a:off x="4663440" y="1188720"/>
            <a:ext cx="4023360" cy="3520440"/>
          </a:xfrm>
          <a:prstGeom prst="roundRect">
            <a:avLst>
              <a:gd name="adj" fmla="val 2078"/>
            </a:avLst>
          </a:prstGeom>
          <a:solidFill>
            <a:schemeClr val="bg2"/>
          </a:solidFill>
          <a:ln w="9525">
            <a:solidFill>
              <a:srgbClr val="D5DBE3"/>
            </a:solidFill>
            <a:prstDash val="solid"/>
          </a:ln>
        </p:spPr>
      </p:sp>
      <p:sp>
        <p:nvSpPr>
          <p:cNvPr id="8" name="Shape 6"/>
          <p:cNvSpPr/>
          <p:nvPr/>
        </p:nvSpPr>
        <p:spPr>
          <a:xfrm>
            <a:off x="4663440" y="1188720"/>
            <a:ext cx="4023360" cy="566928"/>
          </a:xfrm>
          <a:prstGeom prst="roundRect">
            <a:avLst>
              <a:gd name="adj" fmla="val 12903"/>
            </a:avLst>
          </a:prstGeom>
          <a:solidFill>
            <a:schemeClr val="accent2"/>
          </a:solidFill>
          <a:ln w="12700">
            <a:solidFill>
              <a:schemeClr val="accent2"/>
            </a:solidFill>
            <a:prstDash val="solid"/>
          </a:ln>
        </p:spPr>
      </p:sp>
      <p:sp>
        <p:nvSpPr>
          <p:cNvPr id="9" name="Text 7"/>
          <p:cNvSpPr txBox="1"/>
          <p:nvPr/>
        </p:nvSpPr>
        <p:spPr>
          <a:xfrm>
            <a:off x="4846320" y="1188720"/>
            <a:ext cx="3657600" cy="566928"/>
          </a:xfrm>
          <a:prstGeom prst="rect">
            <a:avLst/>
          </a:prstGeom>
          <a:noFill/>
          <a:ln/>
        </p:spPr>
        <p:txBody>
          <a:bodyPr wrap="square" lIns="0" tIns="0" rIns="0" bIns="0" rtlCol="0" anchor="ctr"/>
          <a:lstStyle/>
          <a:p>
            <a:pPr indent="0" marL="0">
              <a:buNone/>
            </a:pPr>
            <a:r>
              <a:rPr lang="en-US" sz="1500" b="1" dirty="0">
                <a:solidFill>
                  <a:schemeClr val="bg1"/>
                </a:solidFill>
              </a:rPr>
              <a:t>Phase 4: Greedy algorithm</a:t>
            </a:r>
            <a:endParaRPr lang="en-US" sz="1500" dirty="0"/>
          </a:p>
        </p:txBody>
      </p:sp>
      <p:sp>
        <p:nvSpPr>
          <p:cNvPr id="10" name="Text 8"/>
          <p:cNvSpPr txBox="1"/>
          <p:nvPr/>
        </p:nvSpPr>
        <p:spPr>
          <a:xfrm>
            <a:off x="4846320" y="1920240"/>
            <a:ext cx="3657600" cy="274320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F3A5F"/>
                </a:solidFill>
              </a:rPr>
              <a:t>Greedy algorithm (budget-based product recommendation)</a:t>
            </a:r>
            <a:pPr indent="0" marL="0">
              <a:spcAft>
                <a:spcPts val="700"/>
              </a:spcAft>
              <a:buNone/>
            </a:pPr>
            <a:r>
              <a:rPr lang="en-US" sz="1250" dirty="0">
                <a:solidFill>
                  <a:schemeClr val="tx1"/>
                </a:solidFill>
              </a:rPr>
              <a:t>: select suitable products while staying within a budget</a:t>
            </a:r>
            <a:endParaRPr lang="en-US" sz="1250" dirty="0"/>
          </a:p>
          <a:p>
            <a:pPr marL="177800" indent="-177800">
              <a:spcAft>
                <a:spcPts val="700"/>
              </a:spcAft>
              <a:buSzPct val="100000"/>
              <a:buChar char="•"/>
            </a:pPr>
            <a:r>
              <a:rPr lang="en-US" sz="1250" b="1" dirty="0">
                <a:solidFill>
                  <a:srgbClr val="1F3A5F"/>
                </a:solidFill>
              </a:rPr>
              <a:t>In the project</a:t>
            </a:r>
            <a:pPr indent="0" marL="0">
              <a:spcAft>
                <a:spcPts val="700"/>
              </a:spcAft>
              <a:buNone/>
            </a:pPr>
            <a:r>
              <a:rPr lang="en-US" sz="1250" dirty="0">
                <a:solidFill>
                  <a:schemeClr val="tx1"/>
                </a:solidFill>
              </a:rPr>
              <a:t>: parts are taken cheapest first while they fit, which gives the most parts for the money</a:t>
            </a:r>
            <a:endParaRPr lang="en-US" sz="12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Data structures: what and why</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3017520"/>
                <a:gridCol w="347472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Structure</a:t>
                      </a:r>
                      <a:endParaRPr lang="en-US" sz="12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in PC Point for</a:t>
                      </a:r>
                      <a:endParaRPr lang="en-US" sz="12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this one</a:t>
                      </a:r>
                      <a:endParaRPr lang="en-US" sz="12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F3A5F"/>
                    </a:solidFill>
                  </a:tcPr>
                </a:tc>
              </a:tr>
              <a:tr h="566928">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Array</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The live product catalogue</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Direct access by position in O(1)</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Singly linked list</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Sales ledger, newest sale at the head</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O(1) insert, no resizing, newest-first for free</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Stack (linked)</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Step-by-step bill: (price x qty) + tax - discount</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LIFO suits expression evaluation and leaves a trace</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Queue (linked)</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Customer service line</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FIFO is fair; add and remove in O(1)</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Graph + BFS</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Which components connect to which</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B2433"/>
                          </a:solidFill>
                          <a:latin typeface="Calibri" pitchFamily="34" charset="0"/>
                          <a:ea typeface="Calibri" pitchFamily="34" charset="-122"/>
                          <a:cs typeface="Calibri" pitchFamily="34" charset="-120"/>
                        </a:rPr>
                        <a:t>Parts form a web, not a tree; BFS lists nearest first, O(V+E)</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Algorithms: what and why</a:t>
            </a:r>
            <a:endParaRPr lang="en-US" sz="2600" dirty="0"/>
          </a:p>
        </p:txBody>
      </p:sp>
      <p:sp>
        <p:nvSpPr>
          <p:cNvPr id="3" name="Shape 1"/>
          <p:cNvSpPr/>
          <p:nvPr/>
        </p:nvSpPr>
        <p:spPr>
          <a:xfrm>
            <a:off x="457200" y="1188720"/>
            <a:ext cx="4023360" cy="1645920"/>
          </a:xfrm>
          <a:prstGeom prst="roundRect">
            <a:avLst>
              <a:gd name="adj" fmla="val 4444"/>
            </a:avLst>
          </a:prstGeom>
          <a:solidFill>
            <a:schemeClr val="bg2"/>
          </a:solidFill>
          <a:ln w="9525">
            <a:solidFill>
              <a:srgbClr val="D5DBE3"/>
            </a:solidFill>
            <a:prstDash val="solid"/>
          </a:ln>
        </p:spPr>
      </p:sp>
      <p:sp>
        <p:nvSpPr>
          <p:cNvPr id="4" name="Shape 2"/>
          <p:cNvSpPr/>
          <p:nvPr/>
        </p:nvSpPr>
        <p:spPr>
          <a:xfrm>
            <a:off x="466344" y="1371600"/>
            <a:ext cx="64008" cy="1280160"/>
          </a:xfrm>
          <a:prstGeom prst="rect">
            <a:avLst/>
          </a:prstGeom>
          <a:solidFill>
            <a:schemeClr val="accent1"/>
          </a:solidFill>
          <a:ln w="12700">
            <a:solidFill>
              <a:schemeClr val="accent1"/>
            </a:solidFill>
            <a:prstDash val="solid"/>
          </a:ln>
        </p:spPr>
      </p:sp>
      <p:sp>
        <p:nvSpPr>
          <p:cNvPr id="5" name="Text 3"/>
          <p:cNvSpPr txBox="1"/>
          <p:nvPr/>
        </p:nvSpPr>
        <p:spPr>
          <a:xfrm>
            <a:off x="731520" y="1325880"/>
            <a:ext cx="237744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Merge sort</a:t>
            </a:r>
            <a:endParaRPr lang="en-US" sz="1600" dirty="0"/>
          </a:p>
        </p:txBody>
      </p:sp>
      <p:sp>
        <p:nvSpPr>
          <p:cNvPr id="6" name="Text 4"/>
          <p:cNvSpPr txBox="1"/>
          <p:nvPr/>
        </p:nvSpPr>
        <p:spPr>
          <a:xfrm>
            <a:off x="3108960" y="1325880"/>
            <a:ext cx="1234440" cy="365760"/>
          </a:xfrm>
          <a:prstGeom prst="rect">
            <a:avLst/>
          </a:prstGeom>
          <a:noFill/>
          <a:ln/>
        </p:spPr>
        <p:txBody>
          <a:bodyPr wrap="square" lIns="0" tIns="0" rIns="0" bIns="0" rtlCol="0" anchor="ctr"/>
          <a:lstStyle/>
          <a:p>
            <a:pPr algn="r" indent="0" marL="0">
              <a:buNone/>
            </a:pPr>
            <a:r>
              <a:rPr lang="en-US" sz="1200" b="1" dirty="0">
                <a:solidFill>
                  <a:schemeClr val="accent1"/>
                </a:solidFill>
              </a:rPr>
              <a:t>O(n log n)</a:t>
            </a:r>
            <a:endParaRPr lang="en-US" sz="1200" dirty="0"/>
          </a:p>
        </p:txBody>
      </p:sp>
      <p:sp>
        <p:nvSpPr>
          <p:cNvPr id="7" name="Text 5"/>
          <p:cNvSpPr txBox="1"/>
          <p:nvPr/>
        </p:nvSpPr>
        <p:spPr>
          <a:xfrm>
            <a:off x="731520" y="1783080"/>
            <a:ext cx="3611880" cy="960120"/>
          </a:xfrm>
          <a:prstGeom prst="rect">
            <a:avLst/>
          </a:prstGeom>
          <a:noFill/>
          <a:ln/>
        </p:spPr>
        <p:txBody>
          <a:bodyPr wrap="square" lIns="0" tIns="0" rIns="0" bIns="0" rtlCol="0" anchor="t"/>
          <a:lstStyle/>
          <a:p>
            <a:pPr indent="0" marL="0">
              <a:buNone/>
            </a:pPr>
            <a:r>
              <a:rPr lang="en-US" sz="1200" dirty="0">
                <a:solidFill>
                  <a:schemeClr val="tx1"/>
                </a:solidFill>
              </a:rPr>
              <a:t>Orders the catalogue by price, name or id and counts comparisons. Chosen for its predictable speed and stable ascending order.</a:t>
            </a:r>
            <a:endParaRPr lang="en-US" sz="1200" dirty="0"/>
          </a:p>
        </p:txBody>
      </p:sp>
      <p:sp>
        <p:nvSpPr>
          <p:cNvPr id="8" name="Shape 6"/>
          <p:cNvSpPr/>
          <p:nvPr/>
        </p:nvSpPr>
        <p:spPr>
          <a:xfrm>
            <a:off x="4663440" y="1188720"/>
            <a:ext cx="4023360" cy="1645920"/>
          </a:xfrm>
          <a:prstGeom prst="roundRect">
            <a:avLst>
              <a:gd name="adj" fmla="val 4444"/>
            </a:avLst>
          </a:prstGeom>
          <a:solidFill>
            <a:schemeClr val="bg2"/>
          </a:solidFill>
          <a:ln w="9525">
            <a:solidFill>
              <a:srgbClr val="D5DBE3"/>
            </a:solidFill>
            <a:prstDash val="solid"/>
          </a:ln>
        </p:spPr>
      </p:sp>
      <p:sp>
        <p:nvSpPr>
          <p:cNvPr id="9" name="Shape 7"/>
          <p:cNvSpPr/>
          <p:nvPr/>
        </p:nvSpPr>
        <p:spPr>
          <a:xfrm>
            <a:off x="4672584" y="1371600"/>
            <a:ext cx="64008" cy="1280160"/>
          </a:xfrm>
          <a:prstGeom prst="rect">
            <a:avLst/>
          </a:prstGeom>
          <a:solidFill>
            <a:schemeClr val="accent2"/>
          </a:solidFill>
          <a:ln w="12700">
            <a:solidFill>
              <a:schemeClr val="accent2"/>
            </a:solidFill>
            <a:prstDash val="solid"/>
          </a:ln>
        </p:spPr>
      </p:sp>
      <p:sp>
        <p:nvSpPr>
          <p:cNvPr id="10" name="Text 8"/>
          <p:cNvSpPr txBox="1"/>
          <p:nvPr/>
        </p:nvSpPr>
        <p:spPr>
          <a:xfrm>
            <a:off x="4937760" y="1325880"/>
            <a:ext cx="237744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Binary search</a:t>
            </a:r>
            <a:endParaRPr lang="en-US" sz="1600" dirty="0"/>
          </a:p>
        </p:txBody>
      </p:sp>
      <p:sp>
        <p:nvSpPr>
          <p:cNvPr id="11" name="Text 9"/>
          <p:cNvSpPr txBox="1"/>
          <p:nvPr/>
        </p:nvSpPr>
        <p:spPr>
          <a:xfrm>
            <a:off x="7315200" y="1325880"/>
            <a:ext cx="1234440" cy="365760"/>
          </a:xfrm>
          <a:prstGeom prst="rect">
            <a:avLst/>
          </a:prstGeom>
          <a:noFill/>
          <a:ln/>
        </p:spPr>
        <p:txBody>
          <a:bodyPr wrap="square" lIns="0" tIns="0" rIns="0" bIns="0" rtlCol="0" anchor="ctr"/>
          <a:lstStyle/>
          <a:p>
            <a:pPr algn="r" indent="0" marL="0">
              <a:buNone/>
            </a:pPr>
            <a:r>
              <a:rPr lang="en-US" sz="1200" b="1" dirty="0">
                <a:solidFill>
                  <a:schemeClr val="accent2"/>
                </a:solidFill>
              </a:rPr>
              <a:t>O(log n)</a:t>
            </a:r>
            <a:endParaRPr lang="en-US" sz="1200" dirty="0"/>
          </a:p>
        </p:txBody>
      </p:sp>
      <p:sp>
        <p:nvSpPr>
          <p:cNvPr id="12" name="Text 10"/>
          <p:cNvSpPr txBox="1"/>
          <p:nvPr/>
        </p:nvSpPr>
        <p:spPr>
          <a:xfrm>
            <a:off x="4937760" y="1783080"/>
            <a:ext cx="3611880" cy="960120"/>
          </a:xfrm>
          <a:prstGeom prst="rect">
            <a:avLst/>
          </a:prstGeom>
          <a:noFill/>
          <a:ln/>
        </p:spPr>
        <p:txBody>
          <a:bodyPr wrap="square" lIns="0" tIns="0" rIns="0" bIns="0" rtlCol="0" anchor="t"/>
          <a:lstStyle/>
          <a:p>
            <a:pPr indent="0" marL="0">
              <a:buNone/>
            </a:pPr>
            <a:r>
              <a:rPr lang="en-US" sz="1200" dirty="0">
                <a:solidFill>
                  <a:schemeClr val="tx1"/>
                </a:solidFill>
              </a:rPr>
              <a:t>Finds a product by id by halving the sorted list. At most 5 probes for 18 products.</a:t>
            </a:r>
            <a:endParaRPr lang="en-US" sz="1200" dirty="0"/>
          </a:p>
        </p:txBody>
      </p:sp>
      <p:sp>
        <p:nvSpPr>
          <p:cNvPr id="13" name="Shape 11"/>
          <p:cNvSpPr/>
          <p:nvPr/>
        </p:nvSpPr>
        <p:spPr>
          <a:xfrm>
            <a:off x="457200" y="2971800"/>
            <a:ext cx="4023360" cy="1645920"/>
          </a:xfrm>
          <a:prstGeom prst="roundRect">
            <a:avLst>
              <a:gd name="adj" fmla="val 4444"/>
            </a:avLst>
          </a:prstGeom>
          <a:solidFill>
            <a:schemeClr val="bg2"/>
          </a:solidFill>
          <a:ln w="9525">
            <a:solidFill>
              <a:srgbClr val="D5DBE3"/>
            </a:solidFill>
            <a:prstDash val="solid"/>
          </a:ln>
        </p:spPr>
      </p:sp>
      <p:sp>
        <p:nvSpPr>
          <p:cNvPr id="14" name="Shape 12"/>
          <p:cNvSpPr/>
          <p:nvPr/>
        </p:nvSpPr>
        <p:spPr>
          <a:xfrm>
            <a:off x="466344" y="3154680"/>
            <a:ext cx="64008" cy="1280160"/>
          </a:xfrm>
          <a:prstGeom prst="rect">
            <a:avLst/>
          </a:prstGeom>
          <a:solidFill>
            <a:schemeClr val="accent4"/>
          </a:solidFill>
          <a:ln w="12700">
            <a:solidFill>
              <a:schemeClr val="accent4"/>
            </a:solidFill>
            <a:prstDash val="solid"/>
          </a:ln>
        </p:spPr>
      </p:sp>
      <p:sp>
        <p:nvSpPr>
          <p:cNvPr id="15" name="Text 13"/>
          <p:cNvSpPr txBox="1"/>
          <p:nvPr/>
        </p:nvSpPr>
        <p:spPr>
          <a:xfrm>
            <a:off x="731520" y="3108960"/>
            <a:ext cx="237744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Linear search</a:t>
            </a:r>
            <a:endParaRPr lang="en-US" sz="1600" dirty="0"/>
          </a:p>
        </p:txBody>
      </p:sp>
      <p:sp>
        <p:nvSpPr>
          <p:cNvPr id="16" name="Text 14"/>
          <p:cNvSpPr txBox="1"/>
          <p:nvPr/>
        </p:nvSpPr>
        <p:spPr>
          <a:xfrm>
            <a:off x="3108960" y="3108960"/>
            <a:ext cx="1234440" cy="365760"/>
          </a:xfrm>
          <a:prstGeom prst="rect">
            <a:avLst/>
          </a:prstGeom>
          <a:noFill/>
          <a:ln/>
        </p:spPr>
        <p:txBody>
          <a:bodyPr wrap="square" lIns="0" tIns="0" rIns="0" bIns="0" rtlCol="0" anchor="ctr"/>
          <a:lstStyle/>
          <a:p>
            <a:pPr algn="r" indent="0" marL="0">
              <a:buNone/>
            </a:pPr>
            <a:r>
              <a:rPr lang="en-US" sz="1200" b="1" dirty="0">
                <a:solidFill>
                  <a:schemeClr val="accent4"/>
                </a:solidFill>
              </a:rPr>
              <a:t>O(n)</a:t>
            </a:r>
            <a:endParaRPr lang="en-US" sz="1200" dirty="0"/>
          </a:p>
        </p:txBody>
      </p:sp>
      <p:sp>
        <p:nvSpPr>
          <p:cNvPr id="17" name="Text 15"/>
          <p:cNvSpPr txBox="1"/>
          <p:nvPr/>
        </p:nvSpPr>
        <p:spPr>
          <a:xfrm>
            <a:off x="731520" y="3566160"/>
            <a:ext cx="3611880" cy="960120"/>
          </a:xfrm>
          <a:prstGeom prst="rect">
            <a:avLst/>
          </a:prstGeom>
          <a:noFill/>
          <a:ln/>
        </p:spPr>
        <p:txBody>
          <a:bodyPr wrap="square" lIns="0" tIns="0" rIns="0" bIns="0" rtlCol="0" anchor="t"/>
          <a:lstStyle/>
          <a:p>
            <a:pPr indent="0" marL="0">
              <a:buNone/>
            </a:pPr>
            <a:r>
              <a:rPr lang="en-US" sz="1200" dirty="0">
                <a:solidFill>
                  <a:schemeClr val="tx1"/>
                </a:solidFill>
              </a:rPr>
              <a:t>Filters by text in name or brand. Partial matches cannot use a sorted index, so a simple scan fits.</a:t>
            </a:r>
            <a:endParaRPr lang="en-US" sz="1200" dirty="0"/>
          </a:p>
        </p:txBody>
      </p:sp>
      <p:sp>
        <p:nvSpPr>
          <p:cNvPr id="18" name="Shape 16"/>
          <p:cNvSpPr/>
          <p:nvPr/>
        </p:nvSpPr>
        <p:spPr>
          <a:xfrm>
            <a:off x="4663440" y="2971800"/>
            <a:ext cx="4023360" cy="1645920"/>
          </a:xfrm>
          <a:prstGeom prst="roundRect">
            <a:avLst>
              <a:gd name="adj" fmla="val 4444"/>
            </a:avLst>
          </a:prstGeom>
          <a:solidFill>
            <a:schemeClr val="bg2"/>
          </a:solidFill>
          <a:ln w="9525">
            <a:solidFill>
              <a:srgbClr val="D5DBE3"/>
            </a:solidFill>
            <a:prstDash val="solid"/>
          </a:ln>
        </p:spPr>
      </p:sp>
      <p:sp>
        <p:nvSpPr>
          <p:cNvPr id="19" name="Shape 17"/>
          <p:cNvSpPr/>
          <p:nvPr/>
        </p:nvSpPr>
        <p:spPr>
          <a:xfrm>
            <a:off x="4672584" y="3154680"/>
            <a:ext cx="64008" cy="1280160"/>
          </a:xfrm>
          <a:prstGeom prst="rect">
            <a:avLst/>
          </a:prstGeom>
          <a:solidFill>
            <a:schemeClr val="accent3"/>
          </a:solidFill>
          <a:ln w="12700">
            <a:solidFill>
              <a:schemeClr val="accent3"/>
            </a:solidFill>
            <a:prstDash val="solid"/>
          </a:ln>
        </p:spPr>
      </p:sp>
      <p:sp>
        <p:nvSpPr>
          <p:cNvPr id="20" name="Text 18"/>
          <p:cNvSpPr txBox="1"/>
          <p:nvPr/>
        </p:nvSpPr>
        <p:spPr>
          <a:xfrm>
            <a:off x="4937760" y="3108960"/>
            <a:ext cx="2377440" cy="365760"/>
          </a:xfrm>
          <a:prstGeom prst="rect">
            <a:avLst/>
          </a:prstGeom>
          <a:noFill/>
          <a:ln/>
        </p:spPr>
        <p:txBody>
          <a:bodyPr wrap="square" lIns="0" tIns="0" rIns="0" bIns="0" rtlCol="0" anchor="ctr"/>
          <a:lstStyle/>
          <a:p>
            <a:pPr indent="0" marL="0">
              <a:buNone/>
            </a:pPr>
            <a:r>
              <a:rPr lang="en-US" sz="1600" b="1" dirty="0">
                <a:solidFill>
                  <a:schemeClr val="accent1"/>
                </a:solidFill>
                <a:latin typeface="Georgia" pitchFamily="34" charset="0"/>
                <a:ea typeface="Georgia" pitchFamily="34" charset="-122"/>
                <a:cs typeface="Georgia" pitchFamily="34" charset="-120"/>
              </a:rPr>
              <a:t>Greedy selection</a:t>
            </a:r>
            <a:endParaRPr lang="en-US" sz="1600" dirty="0"/>
          </a:p>
        </p:txBody>
      </p:sp>
      <p:sp>
        <p:nvSpPr>
          <p:cNvPr id="21" name="Text 19"/>
          <p:cNvSpPr txBox="1"/>
          <p:nvPr/>
        </p:nvSpPr>
        <p:spPr>
          <a:xfrm>
            <a:off x="7315200" y="3108960"/>
            <a:ext cx="1234440" cy="365760"/>
          </a:xfrm>
          <a:prstGeom prst="rect">
            <a:avLst/>
          </a:prstGeom>
          <a:noFill/>
          <a:ln/>
        </p:spPr>
        <p:txBody>
          <a:bodyPr wrap="square" lIns="0" tIns="0" rIns="0" bIns="0" rtlCol="0" anchor="ctr"/>
          <a:lstStyle/>
          <a:p>
            <a:pPr algn="r" indent="0" marL="0">
              <a:buNone/>
            </a:pPr>
            <a:r>
              <a:rPr lang="en-US" sz="1200" b="1" dirty="0">
                <a:solidFill>
                  <a:schemeClr val="accent3"/>
                </a:solidFill>
              </a:rPr>
              <a:t>O(n log n)</a:t>
            </a:r>
            <a:endParaRPr lang="en-US" sz="1200" dirty="0"/>
          </a:p>
        </p:txBody>
      </p:sp>
      <p:sp>
        <p:nvSpPr>
          <p:cNvPr id="22" name="Text 20"/>
          <p:cNvSpPr txBox="1"/>
          <p:nvPr/>
        </p:nvSpPr>
        <p:spPr>
          <a:xfrm>
            <a:off x="4937760" y="3566160"/>
            <a:ext cx="3611880" cy="960120"/>
          </a:xfrm>
          <a:prstGeom prst="rect">
            <a:avLst/>
          </a:prstGeom>
          <a:noFill/>
          <a:ln/>
        </p:spPr>
        <p:txBody>
          <a:bodyPr wrap="square" lIns="0" tIns="0" rIns="0" bIns="0" rtlCol="0" anchor="t"/>
          <a:lstStyle/>
          <a:p>
            <a:pPr indent="0" marL="0">
              <a:buNone/>
            </a:pPr>
            <a:r>
              <a:rPr lang="en-US" sz="1200" dirty="0">
                <a:solidFill>
                  <a:schemeClr val="tx1"/>
                </a:solidFill>
              </a:rPr>
              <a:t>Takes the cheapest parts first while they fit the budget, giving the most parts for the money.</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Results from running the code</a:t>
            </a:r>
            <a:endParaRPr lang="en-US" sz="2600" dirty="0"/>
          </a:p>
        </p:txBody>
      </p:sp>
      <p:graphicFrame>
        <p:nvGraphicFramePr>
          <p:cNvPr id="3" name="Chart 0" descr=""/>
          <p:cNvGraphicFramePr/>
          <p:nvPr/>
        </p:nvGraphicFramePr>
        <p:xfrm>
          <a:off x="365760" y="1143000"/>
          <a:ext cx="4663440" cy="35661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257800" y="1188720"/>
            <a:ext cx="3429000" cy="777240"/>
          </a:xfrm>
          <a:prstGeom prst="roundRect">
            <a:avLst>
              <a:gd name="adj" fmla="val 9412"/>
            </a:avLst>
          </a:prstGeom>
          <a:solidFill>
            <a:schemeClr val="bg2"/>
          </a:solidFill>
          <a:ln w="9525">
            <a:solidFill>
              <a:srgbClr val="D5DBE3"/>
            </a:solidFill>
            <a:prstDash val="solid"/>
          </a:ln>
        </p:spPr>
      </p:sp>
      <p:sp>
        <p:nvSpPr>
          <p:cNvPr id="5" name="Text 2"/>
          <p:cNvSpPr txBox="1"/>
          <p:nvPr/>
        </p:nvSpPr>
        <p:spPr>
          <a:xfrm>
            <a:off x="5394960" y="1188720"/>
            <a:ext cx="1234440" cy="777240"/>
          </a:xfrm>
          <a:prstGeom prst="rect">
            <a:avLst/>
          </a:prstGeom>
          <a:noFill/>
          <a:ln/>
        </p:spPr>
        <p:txBody>
          <a:bodyPr wrap="square" lIns="0" tIns="0" rIns="0" bIns="0" rtlCol="0" anchor="ctr"/>
          <a:lstStyle/>
          <a:p>
            <a:pPr indent="0" marL="0">
              <a:buNone/>
            </a:pPr>
            <a:r>
              <a:rPr lang="en-US" sz="1700" b="1" dirty="0">
                <a:solidFill>
                  <a:schemeClr val="accent2"/>
                </a:solidFill>
                <a:latin typeface="Georgia" pitchFamily="34" charset="0"/>
                <a:ea typeface="Georgia" pitchFamily="34" charset="-122"/>
                <a:cs typeface="Georgia" pitchFamily="34" charset="-120"/>
              </a:rPr>
              <a:t>109,920</a:t>
            </a:r>
            <a:endParaRPr lang="en-US" sz="1700" dirty="0"/>
          </a:p>
        </p:txBody>
      </p:sp>
      <p:sp>
        <p:nvSpPr>
          <p:cNvPr id="6" name="Text 3"/>
          <p:cNvSpPr txBox="1"/>
          <p:nvPr/>
        </p:nvSpPr>
        <p:spPr>
          <a:xfrm>
            <a:off x="6675120" y="1188720"/>
            <a:ext cx="1920240" cy="777240"/>
          </a:xfrm>
          <a:prstGeom prst="rect">
            <a:avLst/>
          </a:prstGeom>
          <a:noFill/>
          <a:ln/>
        </p:spPr>
        <p:txBody>
          <a:bodyPr wrap="square" lIns="0" tIns="0" rIns="0" bIns="0" rtlCol="0" anchor="ctr"/>
          <a:lstStyle/>
          <a:p>
            <a:pPr indent="0" marL="0">
              <a:buNone/>
            </a:pPr>
            <a:r>
              <a:rPr lang="en-US" sz="1050" dirty="0">
                <a:solidFill>
                  <a:schemeClr val="tx1"/>
                </a:solidFill>
              </a:rPr>
              <a:t>Sample bill: 94,000 + 16,920 tax - 1,000 discount, in 15 stack steps</a:t>
            </a:r>
            <a:endParaRPr lang="en-US" sz="1050" dirty="0"/>
          </a:p>
        </p:txBody>
      </p:sp>
      <p:sp>
        <p:nvSpPr>
          <p:cNvPr id="7" name="Shape 4"/>
          <p:cNvSpPr/>
          <p:nvPr/>
        </p:nvSpPr>
        <p:spPr>
          <a:xfrm>
            <a:off x="5257800" y="2057400"/>
            <a:ext cx="3429000" cy="777240"/>
          </a:xfrm>
          <a:prstGeom prst="roundRect">
            <a:avLst>
              <a:gd name="adj" fmla="val 9412"/>
            </a:avLst>
          </a:prstGeom>
          <a:solidFill>
            <a:schemeClr val="bg2"/>
          </a:solidFill>
          <a:ln w="9525">
            <a:solidFill>
              <a:srgbClr val="D5DBE3"/>
            </a:solidFill>
            <a:prstDash val="solid"/>
          </a:ln>
        </p:spPr>
      </p:sp>
      <p:sp>
        <p:nvSpPr>
          <p:cNvPr id="8" name="Text 5"/>
          <p:cNvSpPr txBox="1"/>
          <p:nvPr/>
        </p:nvSpPr>
        <p:spPr>
          <a:xfrm>
            <a:off x="5394960" y="2057400"/>
            <a:ext cx="1234440" cy="777240"/>
          </a:xfrm>
          <a:prstGeom prst="rect">
            <a:avLst/>
          </a:prstGeom>
          <a:noFill/>
          <a:ln/>
        </p:spPr>
        <p:txBody>
          <a:bodyPr wrap="square" lIns="0" tIns="0" rIns="0" bIns="0" rtlCol="0" anchor="ctr"/>
          <a:lstStyle/>
          <a:p>
            <a:pPr indent="0" marL="0">
              <a:buNone/>
            </a:pPr>
            <a:r>
              <a:rPr lang="en-US" sz="1700" b="1" dirty="0">
                <a:solidFill>
                  <a:schemeClr val="accent2"/>
                </a:solidFill>
                <a:latin typeface="Georgia" pitchFamily="34" charset="0"/>
                <a:ea typeface="Georgia" pitchFamily="34" charset="-122"/>
                <a:cs typeface="Georgia" pitchFamily="34" charset="-120"/>
              </a:rPr>
              <a:t>2 probes</a:t>
            </a:r>
            <a:endParaRPr lang="en-US" sz="1700" dirty="0"/>
          </a:p>
        </p:txBody>
      </p:sp>
      <p:sp>
        <p:nvSpPr>
          <p:cNvPr id="9" name="Text 6"/>
          <p:cNvSpPr txBox="1"/>
          <p:nvPr/>
        </p:nvSpPr>
        <p:spPr>
          <a:xfrm>
            <a:off x="6675120" y="2057400"/>
            <a:ext cx="1920240" cy="777240"/>
          </a:xfrm>
          <a:prstGeom prst="rect">
            <a:avLst/>
          </a:prstGeom>
          <a:noFill/>
          <a:ln/>
        </p:spPr>
        <p:txBody>
          <a:bodyPr wrap="square" lIns="0" tIns="0" rIns="0" bIns="0" rtlCol="0" anchor="ctr"/>
          <a:lstStyle/>
          <a:p>
            <a:pPr indent="0" marL="0">
              <a:buNone/>
            </a:pPr>
            <a:r>
              <a:rPr lang="en-US" sz="1050" dirty="0">
                <a:solidFill>
                  <a:schemeClr val="tx1"/>
                </a:solidFill>
              </a:rPr>
              <a:t>Binary search for product id 14; at most 5 for 18 products</a:t>
            </a:r>
            <a:endParaRPr lang="en-US" sz="1050" dirty="0"/>
          </a:p>
        </p:txBody>
      </p:sp>
      <p:sp>
        <p:nvSpPr>
          <p:cNvPr id="10" name="Shape 7"/>
          <p:cNvSpPr/>
          <p:nvPr/>
        </p:nvSpPr>
        <p:spPr>
          <a:xfrm>
            <a:off x="5257800" y="2926080"/>
            <a:ext cx="3429000" cy="777240"/>
          </a:xfrm>
          <a:prstGeom prst="roundRect">
            <a:avLst>
              <a:gd name="adj" fmla="val 9412"/>
            </a:avLst>
          </a:prstGeom>
          <a:solidFill>
            <a:schemeClr val="bg2"/>
          </a:solidFill>
          <a:ln w="9525">
            <a:solidFill>
              <a:srgbClr val="D5DBE3"/>
            </a:solidFill>
            <a:prstDash val="solid"/>
          </a:ln>
        </p:spPr>
      </p:sp>
      <p:sp>
        <p:nvSpPr>
          <p:cNvPr id="11" name="Text 8"/>
          <p:cNvSpPr txBox="1"/>
          <p:nvPr/>
        </p:nvSpPr>
        <p:spPr>
          <a:xfrm>
            <a:off x="5394960" y="2926080"/>
            <a:ext cx="1234440" cy="777240"/>
          </a:xfrm>
          <a:prstGeom prst="rect">
            <a:avLst/>
          </a:prstGeom>
          <a:noFill/>
          <a:ln/>
        </p:spPr>
        <p:txBody>
          <a:bodyPr wrap="square" lIns="0" tIns="0" rIns="0" bIns="0" rtlCol="0" anchor="ctr"/>
          <a:lstStyle/>
          <a:p>
            <a:pPr indent="0" marL="0">
              <a:buNone/>
            </a:pPr>
            <a:r>
              <a:rPr lang="en-US" sz="1700" b="1" dirty="0">
                <a:solidFill>
                  <a:schemeClr val="accent2"/>
                </a:solidFill>
                <a:latin typeface="Georgia" pitchFamily="34" charset="0"/>
                <a:ea typeface="Georgia" pitchFamily="34" charset="-122"/>
                <a:cs typeface="Georgia" pitchFamily="34" charset="-120"/>
              </a:rPr>
              <a:t>5 parts</a:t>
            </a:r>
            <a:endParaRPr lang="en-US" sz="1700" dirty="0"/>
          </a:p>
        </p:txBody>
      </p:sp>
      <p:sp>
        <p:nvSpPr>
          <p:cNvPr id="12" name="Text 9"/>
          <p:cNvSpPr txBox="1"/>
          <p:nvPr/>
        </p:nvSpPr>
        <p:spPr>
          <a:xfrm>
            <a:off x="6675120" y="2926080"/>
            <a:ext cx="1920240" cy="777240"/>
          </a:xfrm>
          <a:prstGeom prst="rect">
            <a:avLst/>
          </a:prstGeom>
          <a:noFill/>
          <a:ln/>
        </p:spPr>
        <p:txBody>
          <a:bodyPr wrap="square" lIns="0" tIns="0" rIns="0" bIns="0" rtlCol="0" anchor="ctr"/>
          <a:lstStyle/>
          <a:p>
            <a:pPr indent="0" marL="0">
              <a:buNone/>
            </a:pPr>
            <a:r>
              <a:rPr lang="en-US" sz="1050" dirty="0">
                <a:solidFill>
                  <a:schemeClr val="tx1"/>
                </a:solidFill>
              </a:rPr>
              <a:t>Greedy picks for a 45,000 rupee RAM, SSD and GPU budget (41,000 spent)</a:t>
            </a:r>
            <a:endParaRPr lang="en-US" sz="1050" dirty="0"/>
          </a:p>
        </p:txBody>
      </p:sp>
      <p:sp>
        <p:nvSpPr>
          <p:cNvPr id="13" name="Shape 10"/>
          <p:cNvSpPr/>
          <p:nvPr/>
        </p:nvSpPr>
        <p:spPr>
          <a:xfrm>
            <a:off x="5257800" y="3794760"/>
            <a:ext cx="3429000" cy="777240"/>
          </a:xfrm>
          <a:prstGeom prst="roundRect">
            <a:avLst>
              <a:gd name="adj" fmla="val 9412"/>
            </a:avLst>
          </a:prstGeom>
          <a:solidFill>
            <a:schemeClr val="bg2"/>
          </a:solidFill>
          <a:ln w="9525">
            <a:solidFill>
              <a:srgbClr val="D5DBE3"/>
            </a:solidFill>
            <a:prstDash val="solid"/>
          </a:ln>
        </p:spPr>
      </p:sp>
      <p:sp>
        <p:nvSpPr>
          <p:cNvPr id="14" name="Text 11"/>
          <p:cNvSpPr txBox="1"/>
          <p:nvPr/>
        </p:nvSpPr>
        <p:spPr>
          <a:xfrm>
            <a:off x="5394960" y="3794760"/>
            <a:ext cx="1234440" cy="777240"/>
          </a:xfrm>
          <a:prstGeom prst="rect">
            <a:avLst/>
          </a:prstGeom>
          <a:noFill/>
          <a:ln/>
        </p:spPr>
        <p:txBody>
          <a:bodyPr wrap="square" lIns="0" tIns="0" rIns="0" bIns="0" rtlCol="0" anchor="ctr"/>
          <a:lstStyle/>
          <a:p>
            <a:pPr indent="0" marL="0">
              <a:buNone/>
            </a:pPr>
            <a:r>
              <a:rPr lang="en-US" sz="1700" b="1" dirty="0">
                <a:solidFill>
                  <a:schemeClr val="accent2"/>
                </a:solidFill>
                <a:latin typeface="Georgia" pitchFamily="34" charset="0"/>
                <a:ea typeface="Georgia" pitchFamily="34" charset="-122"/>
                <a:cs typeface="Georgia" pitchFamily="34" charset="-120"/>
              </a:rPr>
              <a:t>9 nodes</a:t>
            </a:r>
            <a:endParaRPr lang="en-US" sz="1700" dirty="0"/>
          </a:p>
        </p:txBody>
      </p:sp>
      <p:sp>
        <p:nvSpPr>
          <p:cNvPr id="15" name="Text 12"/>
          <p:cNvSpPr txBox="1"/>
          <p:nvPr/>
        </p:nvSpPr>
        <p:spPr>
          <a:xfrm>
            <a:off x="6675120" y="3794760"/>
            <a:ext cx="1920240" cy="777240"/>
          </a:xfrm>
          <a:prstGeom prst="rect">
            <a:avLst/>
          </a:prstGeom>
          <a:noFill/>
          <a:ln/>
        </p:spPr>
        <p:txBody>
          <a:bodyPr wrap="square" lIns="0" tIns="0" rIns="0" bIns="0" rtlCol="0" anchor="ctr"/>
          <a:lstStyle/>
          <a:p>
            <a:pPr indent="0" marL="0">
              <a:buNone/>
            </a:pPr>
            <a:r>
              <a:rPr lang="en-US" sz="1050" dirty="0">
                <a:solidFill>
                  <a:schemeClr val="tx1"/>
                </a:solidFill>
              </a:rPr>
              <a:t>BFS from Computer visits every component, 8 tree edges</a:t>
            </a:r>
            <a:endParaRPr lang="en-US" sz="10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Screenshots to paste</a:t>
            </a:r>
            <a:endParaRPr lang="en-US" sz="2600" dirty="0"/>
          </a:p>
        </p:txBody>
      </p:sp>
      <p:sp>
        <p:nvSpPr>
          <p:cNvPr id="3" name="Shape 1"/>
          <p:cNvSpPr/>
          <p:nvPr/>
        </p:nvSpPr>
        <p:spPr>
          <a:xfrm>
            <a:off x="457200" y="1188720"/>
            <a:ext cx="2606040" cy="1325880"/>
          </a:xfrm>
          <a:prstGeom prst="rect">
            <a:avLst/>
          </a:prstGeom>
          <a:solidFill>
            <a:srgbClr val="F6F8FA"/>
          </a:solidFill>
          <a:ln w="12700">
            <a:solidFill>
              <a:srgbClr val="8A97A8"/>
            </a:solidFill>
            <a:prstDash val="dash"/>
          </a:ln>
        </p:spPr>
      </p:sp>
      <p:sp>
        <p:nvSpPr>
          <p:cNvPr id="4" name="Text 2"/>
          <p:cNvSpPr txBox="1"/>
          <p:nvPr/>
        </p:nvSpPr>
        <p:spPr>
          <a:xfrm>
            <a:off x="457200" y="1188720"/>
            <a:ext cx="2606040" cy="1325880"/>
          </a:xfrm>
          <a:prstGeom prst="rect">
            <a:avLst/>
          </a:prstGeom>
          <a:noFill/>
          <a:ln/>
        </p:spPr>
        <p:txBody>
          <a:bodyPr wrap="square" lIns="0" tIns="0" rIns="0" bIns="0" rtlCol="0" anchor="ctr"/>
          <a:lstStyle/>
          <a:p>
            <a:pPr algn="ctr" indent="0" marL="0">
              <a:buNone/>
            </a:pPr>
            <a:r>
              <a:rPr lang="en-US" sz="1100" i="1" dirty="0">
                <a:solidFill>
                  <a:srgbClr val="8A97A8"/>
                </a:solidFill>
              </a:rPr>
              <a:t>Paste screenshot here</a:t>
            </a:r>
            <a:endParaRPr lang="en-US" sz="1100" dirty="0"/>
          </a:p>
        </p:txBody>
      </p:sp>
      <p:sp>
        <p:nvSpPr>
          <p:cNvPr id="5" name="Text 3"/>
          <p:cNvSpPr txBox="1"/>
          <p:nvPr/>
        </p:nvSpPr>
        <p:spPr>
          <a:xfrm>
            <a:off x="457200" y="2560320"/>
            <a:ext cx="2606040" cy="228600"/>
          </a:xfrm>
          <a:prstGeom prst="rect">
            <a:avLst/>
          </a:prstGeom>
          <a:noFill/>
          <a:ln/>
        </p:spPr>
        <p:txBody>
          <a:bodyPr wrap="square" lIns="0" tIns="0" rIns="0" bIns="0" rtlCol="0" anchor="t"/>
          <a:lstStyle/>
          <a:p>
            <a:pPr indent="0" marL="0">
              <a:buNone/>
            </a:pPr>
            <a:r>
              <a:rPr lang="en-US" sz="1100" b="1" dirty="0">
                <a:solidFill>
                  <a:schemeClr val="accent1"/>
                </a:solidFill>
              </a:rPr>
              <a:t>1. Catalogue</a:t>
            </a:r>
            <a:endParaRPr lang="en-US" sz="1100" dirty="0"/>
          </a:p>
        </p:txBody>
      </p:sp>
      <p:sp>
        <p:nvSpPr>
          <p:cNvPr id="6" name="Text 4"/>
          <p:cNvSpPr txBox="1"/>
          <p:nvPr/>
        </p:nvSpPr>
        <p:spPr>
          <a:xfrm>
            <a:off x="457200" y="2770632"/>
            <a:ext cx="2606040" cy="365760"/>
          </a:xfrm>
          <a:prstGeom prst="rect">
            <a:avLst/>
          </a:prstGeom>
          <a:noFill/>
          <a:ln/>
        </p:spPr>
        <p:txBody>
          <a:bodyPr wrap="square" lIns="0" tIns="0" rIns="0" bIns="0" rtlCol="0" anchor="t"/>
          <a:lstStyle/>
          <a:p>
            <a:pPr indent="0" marL="0">
              <a:buNone/>
            </a:pPr>
            <a:r>
              <a:rPr lang="en-US" sz="1000" dirty="0">
                <a:solidFill>
                  <a:schemeClr val="accent5"/>
                </a:solidFill>
              </a:rPr>
              <a:t>products.html: price sort or an id search</a:t>
            </a:r>
            <a:endParaRPr lang="en-US" sz="1000" dirty="0"/>
          </a:p>
        </p:txBody>
      </p:sp>
      <p:sp>
        <p:nvSpPr>
          <p:cNvPr id="7" name="Shape 5"/>
          <p:cNvSpPr/>
          <p:nvPr/>
        </p:nvSpPr>
        <p:spPr>
          <a:xfrm>
            <a:off x="3246120" y="1188720"/>
            <a:ext cx="2606040" cy="1325880"/>
          </a:xfrm>
          <a:prstGeom prst="rect">
            <a:avLst/>
          </a:prstGeom>
          <a:solidFill>
            <a:srgbClr val="F6F8FA"/>
          </a:solidFill>
          <a:ln w="12700">
            <a:solidFill>
              <a:srgbClr val="8A97A8"/>
            </a:solidFill>
            <a:prstDash val="dash"/>
          </a:ln>
        </p:spPr>
      </p:sp>
      <p:sp>
        <p:nvSpPr>
          <p:cNvPr id="8" name="Text 6"/>
          <p:cNvSpPr txBox="1"/>
          <p:nvPr/>
        </p:nvSpPr>
        <p:spPr>
          <a:xfrm>
            <a:off x="3246120" y="1188720"/>
            <a:ext cx="2606040" cy="1325880"/>
          </a:xfrm>
          <a:prstGeom prst="rect">
            <a:avLst/>
          </a:prstGeom>
          <a:noFill/>
          <a:ln/>
        </p:spPr>
        <p:txBody>
          <a:bodyPr wrap="square" lIns="0" tIns="0" rIns="0" bIns="0" rtlCol="0" anchor="ctr"/>
          <a:lstStyle/>
          <a:p>
            <a:pPr algn="ctr" indent="0" marL="0">
              <a:buNone/>
            </a:pPr>
            <a:r>
              <a:rPr lang="en-US" sz="1100" i="1" dirty="0">
                <a:solidFill>
                  <a:srgbClr val="8A97A8"/>
                </a:solidFill>
              </a:rPr>
              <a:t>Paste screenshot here</a:t>
            </a:r>
            <a:endParaRPr lang="en-US" sz="1100" dirty="0"/>
          </a:p>
        </p:txBody>
      </p:sp>
      <p:sp>
        <p:nvSpPr>
          <p:cNvPr id="9" name="Text 7"/>
          <p:cNvSpPr txBox="1"/>
          <p:nvPr/>
        </p:nvSpPr>
        <p:spPr>
          <a:xfrm>
            <a:off x="3246120" y="2560320"/>
            <a:ext cx="2606040" cy="228600"/>
          </a:xfrm>
          <a:prstGeom prst="rect">
            <a:avLst/>
          </a:prstGeom>
          <a:noFill/>
          <a:ln/>
        </p:spPr>
        <p:txBody>
          <a:bodyPr wrap="square" lIns="0" tIns="0" rIns="0" bIns="0" rtlCol="0" anchor="t"/>
          <a:lstStyle/>
          <a:p>
            <a:pPr indent="0" marL="0">
              <a:buNone/>
            </a:pPr>
            <a:r>
              <a:rPr lang="en-US" sz="1100" b="1" dirty="0">
                <a:solidFill>
                  <a:schemeClr val="accent1"/>
                </a:solidFill>
              </a:rPr>
              <a:t>2. Sales ledger</a:t>
            </a:r>
            <a:endParaRPr lang="en-US" sz="1100" dirty="0"/>
          </a:p>
        </p:txBody>
      </p:sp>
      <p:sp>
        <p:nvSpPr>
          <p:cNvPr id="10" name="Text 8"/>
          <p:cNvSpPr txBox="1"/>
          <p:nvPr/>
        </p:nvSpPr>
        <p:spPr>
          <a:xfrm>
            <a:off x="3246120" y="2770632"/>
            <a:ext cx="2606040" cy="365760"/>
          </a:xfrm>
          <a:prstGeom prst="rect">
            <a:avLst/>
          </a:prstGeom>
          <a:noFill/>
          <a:ln/>
        </p:spPr>
        <p:txBody>
          <a:bodyPr wrap="square" lIns="0" tIns="0" rIns="0" bIns="0" rtlCol="0" anchor="t"/>
          <a:lstStyle/>
          <a:p>
            <a:pPr indent="0" marL="0">
              <a:buNone/>
            </a:pPr>
            <a:r>
              <a:rPr lang="en-US" sz="1000" dirty="0">
                <a:solidFill>
                  <a:schemeClr val="accent5"/>
                </a:solidFill>
              </a:rPr>
              <a:t>sales.html: the linked-list chain of sales</a:t>
            </a:r>
            <a:endParaRPr lang="en-US" sz="1000" dirty="0"/>
          </a:p>
        </p:txBody>
      </p:sp>
      <p:sp>
        <p:nvSpPr>
          <p:cNvPr id="11" name="Shape 9"/>
          <p:cNvSpPr/>
          <p:nvPr/>
        </p:nvSpPr>
        <p:spPr>
          <a:xfrm>
            <a:off x="6035040" y="1188720"/>
            <a:ext cx="2606040" cy="1325880"/>
          </a:xfrm>
          <a:prstGeom prst="rect">
            <a:avLst/>
          </a:prstGeom>
          <a:solidFill>
            <a:srgbClr val="F6F8FA"/>
          </a:solidFill>
          <a:ln w="12700">
            <a:solidFill>
              <a:srgbClr val="8A97A8"/>
            </a:solidFill>
            <a:prstDash val="dash"/>
          </a:ln>
        </p:spPr>
      </p:sp>
      <p:sp>
        <p:nvSpPr>
          <p:cNvPr id="12" name="Text 10"/>
          <p:cNvSpPr txBox="1"/>
          <p:nvPr/>
        </p:nvSpPr>
        <p:spPr>
          <a:xfrm>
            <a:off x="6035040" y="1188720"/>
            <a:ext cx="2606040" cy="1325880"/>
          </a:xfrm>
          <a:prstGeom prst="rect">
            <a:avLst/>
          </a:prstGeom>
          <a:noFill/>
          <a:ln/>
        </p:spPr>
        <p:txBody>
          <a:bodyPr wrap="square" lIns="0" tIns="0" rIns="0" bIns="0" rtlCol="0" anchor="ctr"/>
          <a:lstStyle/>
          <a:p>
            <a:pPr algn="ctr" indent="0" marL="0">
              <a:buNone/>
            </a:pPr>
            <a:r>
              <a:rPr lang="en-US" sz="1100" i="1" dirty="0">
                <a:solidFill>
                  <a:srgbClr val="8A97A8"/>
                </a:solidFill>
              </a:rPr>
              <a:t>Paste screenshot here</a:t>
            </a:r>
            <a:endParaRPr lang="en-US" sz="1100" dirty="0"/>
          </a:p>
        </p:txBody>
      </p:sp>
      <p:sp>
        <p:nvSpPr>
          <p:cNvPr id="13" name="Text 11"/>
          <p:cNvSpPr txBox="1"/>
          <p:nvPr/>
        </p:nvSpPr>
        <p:spPr>
          <a:xfrm>
            <a:off x="6035040" y="2560320"/>
            <a:ext cx="2606040" cy="228600"/>
          </a:xfrm>
          <a:prstGeom prst="rect">
            <a:avLst/>
          </a:prstGeom>
          <a:noFill/>
          <a:ln/>
        </p:spPr>
        <p:txBody>
          <a:bodyPr wrap="square" lIns="0" tIns="0" rIns="0" bIns="0" rtlCol="0" anchor="t"/>
          <a:lstStyle/>
          <a:p>
            <a:pPr indent="0" marL="0">
              <a:buNone/>
            </a:pPr>
            <a:r>
              <a:rPr lang="en-US" sz="1100" b="1" dirty="0">
                <a:solidFill>
                  <a:schemeClr val="accent1"/>
                </a:solidFill>
              </a:rPr>
              <a:t>3. Billing trace</a:t>
            </a:r>
            <a:endParaRPr lang="en-US" sz="1100" dirty="0"/>
          </a:p>
        </p:txBody>
      </p:sp>
      <p:sp>
        <p:nvSpPr>
          <p:cNvPr id="14" name="Text 12"/>
          <p:cNvSpPr txBox="1"/>
          <p:nvPr/>
        </p:nvSpPr>
        <p:spPr>
          <a:xfrm>
            <a:off x="6035040" y="2770632"/>
            <a:ext cx="2606040" cy="365760"/>
          </a:xfrm>
          <a:prstGeom prst="rect">
            <a:avLst/>
          </a:prstGeom>
          <a:noFill/>
          <a:ln/>
        </p:spPr>
        <p:txBody>
          <a:bodyPr wrap="square" lIns="0" tIns="0" rIns="0" bIns="0" rtlCol="0" anchor="t"/>
          <a:lstStyle/>
          <a:p>
            <a:pPr indent="0" marL="0">
              <a:buNone/>
            </a:pPr>
            <a:r>
              <a:rPr lang="en-US" sz="1000" dirty="0">
                <a:solidFill>
                  <a:schemeClr val="accent5"/>
                </a:solidFill>
              </a:rPr>
              <a:t>sales.html: stack trace after a sale</a:t>
            </a:r>
            <a:endParaRPr lang="en-US" sz="1000" dirty="0"/>
          </a:p>
        </p:txBody>
      </p:sp>
      <p:sp>
        <p:nvSpPr>
          <p:cNvPr id="15" name="Shape 13"/>
          <p:cNvSpPr/>
          <p:nvPr/>
        </p:nvSpPr>
        <p:spPr>
          <a:xfrm>
            <a:off x="457200" y="2971800"/>
            <a:ext cx="2606040" cy="1325880"/>
          </a:xfrm>
          <a:prstGeom prst="rect">
            <a:avLst/>
          </a:prstGeom>
          <a:solidFill>
            <a:srgbClr val="F6F8FA"/>
          </a:solidFill>
          <a:ln w="12700">
            <a:solidFill>
              <a:srgbClr val="8A97A8"/>
            </a:solidFill>
            <a:prstDash val="dash"/>
          </a:ln>
        </p:spPr>
      </p:sp>
      <p:sp>
        <p:nvSpPr>
          <p:cNvPr id="16" name="Text 14"/>
          <p:cNvSpPr txBox="1"/>
          <p:nvPr/>
        </p:nvSpPr>
        <p:spPr>
          <a:xfrm>
            <a:off x="457200" y="2971800"/>
            <a:ext cx="2606040" cy="1325880"/>
          </a:xfrm>
          <a:prstGeom prst="rect">
            <a:avLst/>
          </a:prstGeom>
          <a:noFill/>
          <a:ln/>
        </p:spPr>
        <p:txBody>
          <a:bodyPr wrap="square" lIns="0" tIns="0" rIns="0" bIns="0" rtlCol="0" anchor="ctr"/>
          <a:lstStyle/>
          <a:p>
            <a:pPr algn="ctr" indent="0" marL="0">
              <a:buNone/>
            </a:pPr>
            <a:r>
              <a:rPr lang="en-US" sz="1100" i="1" dirty="0">
                <a:solidFill>
                  <a:srgbClr val="8A97A8"/>
                </a:solidFill>
              </a:rPr>
              <a:t>Paste screenshot here</a:t>
            </a:r>
            <a:endParaRPr lang="en-US" sz="1100" dirty="0"/>
          </a:p>
        </p:txBody>
      </p:sp>
      <p:sp>
        <p:nvSpPr>
          <p:cNvPr id="17" name="Text 15"/>
          <p:cNvSpPr txBox="1"/>
          <p:nvPr/>
        </p:nvSpPr>
        <p:spPr>
          <a:xfrm>
            <a:off x="457200" y="4343400"/>
            <a:ext cx="2606040" cy="228600"/>
          </a:xfrm>
          <a:prstGeom prst="rect">
            <a:avLst/>
          </a:prstGeom>
          <a:noFill/>
          <a:ln/>
        </p:spPr>
        <p:txBody>
          <a:bodyPr wrap="square" lIns="0" tIns="0" rIns="0" bIns="0" rtlCol="0" anchor="t"/>
          <a:lstStyle/>
          <a:p>
            <a:pPr indent="0" marL="0">
              <a:buNone/>
            </a:pPr>
            <a:r>
              <a:rPr lang="en-US" sz="1100" b="1" dirty="0">
                <a:solidFill>
                  <a:schemeClr val="accent1"/>
                </a:solidFill>
              </a:rPr>
              <a:t>4. Service queue</a:t>
            </a:r>
            <a:endParaRPr lang="en-US" sz="1100" dirty="0"/>
          </a:p>
        </p:txBody>
      </p:sp>
      <p:sp>
        <p:nvSpPr>
          <p:cNvPr id="18" name="Text 16"/>
          <p:cNvSpPr txBox="1"/>
          <p:nvPr/>
        </p:nvSpPr>
        <p:spPr>
          <a:xfrm>
            <a:off x="457200" y="4553712"/>
            <a:ext cx="2606040" cy="365760"/>
          </a:xfrm>
          <a:prstGeom prst="rect">
            <a:avLst/>
          </a:prstGeom>
          <a:noFill/>
          <a:ln/>
        </p:spPr>
        <p:txBody>
          <a:bodyPr wrap="square" lIns="0" tIns="0" rIns="0" bIns="0" rtlCol="0" anchor="t"/>
          <a:lstStyle/>
          <a:p>
            <a:pPr indent="0" marL="0">
              <a:buNone/>
            </a:pPr>
            <a:r>
              <a:rPr lang="en-US" sz="1000" dirty="0">
                <a:solidFill>
                  <a:schemeClr val="accent5"/>
                </a:solidFill>
              </a:rPr>
              <a:t>queue.html: three tickets added, front card visible</a:t>
            </a:r>
            <a:endParaRPr lang="en-US" sz="1000" dirty="0"/>
          </a:p>
        </p:txBody>
      </p:sp>
      <p:sp>
        <p:nvSpPr>
          <p:cNvPr id="19" name="Shape 17"/>
          <p:cNvSpPr/>
          <p:nvPr/>
        </p:nvSpPr>
        <p:spPr>
          <a:xfrm>
            <a:off x="3246120" y="2971800"/>
            <a:ext cx="2606040" cy="1325880"/>
          </a:xfrm>
          <a:prstGeom prst="rect">
            <a:avLst/>
          </a:prstGeom>
          <a:solidFill>
            <a:srgbClr val="F6F8FA"/>
          </a:solidFill>
          <a:ln w="12700">
            <a:solidFill>
              <a:srgbClr val="8A97A8"/>
            </a:solidFill>
            <a:prstDash val="dash"/>
          </a:ln>
        </p:spPr>
      </p:sp>
      <p:sp>
        <p:nvSpPr>
          <p:cNvPr id="20" name="Text 18"/>
          <p:cNvSpPr txBox="1"/>
          <p:nvPr/>
        </p:nvSpPr>
        <p:spPr>
          <a:xfrm>
            <a:off x="3246120" y="2971800"/>
            <a:ext cx="2606040" cy="1325880"/>
          </a:xfrm>
          <a:prstGeom prst="rect">
            <a:avLst/>
          </a:prstGeom>
          <a:noFill/>
          <a:ln/>
        </p:spPr>
        <p:txBody>
          <a:bodyPr wrap="square" lIns="0" tIns="0" rIns="0" bIns="0" rtlCol="0" anchor="ctr"/>
          <a:lstStyle/>
          <a:p>
            <a:pPr algn="ctr" indent="0" marL="0">
              <a:buNone/>
            </a:pPr>
            <a:r>
              <a:rPr lang="en-US" sz="1100" i="1" dirty="0">
                <a:solidFill>
                  <a:srgbClr val="8A97A8"/>
                </a:solidFill>
              </a:rPr>
              <a:t>Paste screenshot here</a:t>
            </a:r>
            <a:endParaRPr lang="en-US" sz="1100" dirty="0"/>
          </a:p>
        </p:txBody>
      </p:sp>
      <p:sp>
        <p:nvSpPr>
          <p:cNvPr id="21" name="Text 19"/>
          <p:cNvSpPr txBox="1"/>
          <p:nvPr/>
        </p:nvSpPr>
        <p:spPr>
          <a:xfrm>
            <a:off x="3246120" y="4343400"/>
            <a:ext cx="2606040" cy="228600"/>
          </a:xfrm>
          <a:prstGeom prst="rect">
            <a:avLst/>
          </a:prstGeom>
          <a:noFill/>
          <a:ln/>
        </p:spPr>
        <p:txBody>
          <a:bodyPr wrap="square" lIns="0" tIns="0" rIns="0" bIns="0" rtlCol="0" anchor="t"/>
          <a:lstStyle/>
          <a:p>
            <a:pPr indent="0" marL="0">
              <a:buNone/>
            </a:pPr>
            <a:r>
              <a:rPr lang="en-US" sz="1100" b="1" dirty="0">
                <a:solidFill>
                  <a:schemeClr val="accent1"/>
                </a:solidFill>
              </a:rPr>
              <a:t>5. Component graph</a:t>
            </a:r>
            <a:endParaRPr lang="en-US" sz="1100" dirty="0"/>
          </a:p>
        </p:txBody>
      </p:sp>
      <p:sp>
        <p:nvSpPr>
          <p:cNvPr id="22" name="Text 20"/>
          <p:cNvSpPr txBox="1"/>
          <p:nvPr/>
        </p:nvSpPr>
        <p:spPr>
          <a:xfrm>
            <a:off x="3246120" y="4553712"/>
            <a:ext cx="2606040" cy="365760"/>
          </a:xfrm>
          <a:prstGeom prst="rect">
            <a:avLst/>
          </a:prstGeom>
          <a:noFill/>
          <a:ln/>
        </p:spPr>
        <p:txBody>
          <a:bodyPr wrap="square" lIns="0" tIns="0" rIns="0" bIns="0" rtlCol="0" anchor="t"/>
          <a:lstStyle/>
          <a:p>
            <a:pPr indent="0" marL="0">
              <a:buNone/>
            </a:pPr>
            <a:r>
              <a:rPr lang="en-US" sz="1000" dirty="0">
                <a:solidFill>
                  <a:schemeClr val="accent5"/>
                </a:solidFill>
              </a:rPr>
              <a:t>components.html: BFS scan from Computer</a:t>
            </a:r>
            <a:endParaRPr lang="en-US" sz="1000" dirty="0"/>
          </a:p>
        </p:txBody>
      </p:sp>
      <p:sp>
        <p:nvSpPr>
          <p:cNvPr id="23" name="Shape 21"/>
          <p:cNvSpPr/>
          <p:nvPr/>
        </p:nvSpPr>
        <p:spPr>
          <a:xfrm>
            <a:off x="6035040" y="2971800"/>
            <a:ext cx="2606040" cy="1325880"/>
          </a:xfrm>
          <a:prstGeom prst="rect">
            <a:avLst/>
          </a:prstGeom>
          <a:solidFill>
            <a:srgbClr val="F6F8FA"/>
          </a:solidFill>
          <a:ln w="12700">
            <a:solidFill>
              <a:srgbClr val="8A97A8"/>
            </a:solidFill>
            <a:prstDash val="dash"/>
          </a:ln>
        </p:spPr>
      </p:sp>
      <p:sp>
        <p:nvSpPr>
          <p:cNvPr id="24" name="Text 22"/>
          <p:cNvSpPr txBox="1"/>
          <p:nvPr/>
        </p:nvSpPr>
        <p:spPr>
          <a:xfrm>
            <a:off x="6035040" y="2971800"/>
            <a:ext cx="2606040" cy="1325880"/>
          </a:xfrm>
          <a:prstGeom prst="rect">
            <a:avLst/>
          </a:prstGeom>
          <a:noFill/>
          <a:ln/>
        </p:spPr>
        <p:txBody>
          <a:bodyPr wrap="square" lIns="0" tIns="0" rIns="0" bIns="0" rtlCol="0" anchor="ctr"/>
          <a:lstStyle/>
          <a:p>
            <a:pPr algn="ctr" indent="0" marL="0">
              <a:buNone/>
            </a:pPr>
            <a:r>
              <a:rPr lang="en-US" sz="1100" i="1" dirty="0">
                <a:solidFill>
                  <a:srgbClr val="8A97A8"/>
                </a:solidFill>
              </a:rPr>
              <a:t>Paste screenshot here</a:t>
            </a:r>
            <a:endParaRPr lang="en-US" sz="1100" dirty="0"/>
          </a:p>
        </p:txBody>
      </p:sp>
      <p:sp>
        <p:nvSpPr>
          <p:cNvPr id="25" name="Text 23"/>
          <p:cNvSpPr txBox="1"/>
          <p:nvPr/>
        </p:nvSpPr>
        <p:spPr>
          <a:xfrm>
            <a:off x="6035040" y="4343400"/>
            <a:ext cx="2606040" cy="228600"/>
          </a:xfrm>
          <a:prstGeom prst="rect">
            <a:avLst/>
          </a:prstGeom>
          <a:noFill/>
          <a:ln/>
        </p:spPr>
        <p:txBody>
          <a:bodyPr wrap="square" lIns="0" tIns="0" rIns="0" bIns="0" rtlCol="0" anchor="t"/>
          <a:lstStyle/>
          <a:p>
            <a:pPr indent="0" marL="0">
              <a:buNone/>
            </a:pPr>
            <a:r>
              <a:rPr lang="en-US" sz="1100" b="1" dirty="0">
                <a:solidFill>
                  <a:schemeClr val="accent1"/>
                </a:solidFill>
              </a:rPr>
              <a:t>6. Budget builder</a:t>
            </a:r>
            <a:endParaRPr lang="en-US" sz="1100" dirty="0"/>
          </a:p>
        </p:txBody>
      </p:sp>
      <p:sp>
        <p:nvSpPr>
          <p:cNvPr id="26" name="Text 24"/>
          <p:cNvSpPr txBox="1"/>
          <p:nvPr/>
        </p:nvSpPr>
        <p:spPr>
          <a:xfrm>
            <a:off x="6035040" y="4553712"/>
            <a:ext cx="2606040" cy="365760"/>
          </a:xfrm>
          <a:prstGeom prst="rect">
            <a:avLst/>
          </a:prstGeom>
          <a:noFill/>
          <a:ln/>
        </p:spPr>
        <p:txBody>
          <a:bodyPr wrap="square" lIns="0" tIns="0" rIns="0" bIns="0" rtlCol="0" anchor="t"/>
          <a:lstStyle/>
          <a:p>
            <a:pPr indent="0" marL="0">
              <a:buNone/>
            </a:pPr>
            <a:r>
              <a:rPr lang="en-US" sz="1000" dirty="0">
                <a:solidFill>
                  <a:schemeClr val="accent5"/>
                </a:solidFill>
              </a:rPr>
              <a:t>recommendation.html: greedy result</a:t>
            </a:r>
            <a:endParaRPr lang="en-US" sz="10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F3A5F"/>
                </a:solidFill>
                <a:latin typeface="Georgia" pitchFamily="34" charset="0"/>
                <a:ea typeface="Georgia" pitchFamily="34" charset="-122"/>
                <a:cs typeface="Georgia" pitchFamily="34" charset="-120"/>
              </a:rPr>
              <a:t>Challenges faced</a:t>
            </a:r>
            <a:endParaRPr lang="en-US" sz="2600" dirty="0"/>
          </a:p>
        </p:txBody>
      </p:sp>
      <p:sp>
        <p:nvSpPr>
          <p:cNvPr id="3" name="Shape 1"/>
          <p:cNvSpPr/>
          <p:nvPr/>
        </p:nvSpPr>
        <p:spPr>
          <a:xfrm>
            <a:off x="457200" y="1188720"/>
            <a:ext cx="4023360" cy="1645920"/>
          </a:xfrm>
          <a:prstGeom prst="roundRect">
            <a:avLst>
              <a:gd name="adj" fmla="val 4444"/>
            </a:avLst>
          </a:prstGeom>
          <a:solidFill>
            <a:schemeClr val="bg2"/>
          </a:solidFill>
          <a:ln w="9525">
            <a:solidFill>
              <a:srgbClr val="D5DBE3"/>
            </a:solidFill>
            <a:prstDash val="solid"/>
          </a:ln>
        </p:spPr>
      </p:sp>
      <p:sp>
        <p:nvSpPr>
          <p:cNvPr id="4" name="Shape 2"/>
          <p:cNvSpPr/>
          <p:nvPr/>
        </p:nvSpPr>
        <p:spPr>
          <a:xfrm>
            <a:off x="640080" y="1353312"/>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640080" y="13533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43000" y="1353312"/>
            <a:ext cx="3200400" cy="384048"/>
          </a:xfrm>
          <a:prstGeom prst="rect">
            <a:avLst/>
          </a:prstGeom>
          <a:noFill/>
          <a:ln/>
        </p:spPr>
        <p:txBody>
          <a:bodyPr wrap="square" lIns="0" tIns="0" rIns="0" bIns="0" rtlCol="0" anchor="ctr"/>
          <a:lstStyle/>
          <a:p>
            <a:pPr indent="0" marL="0">
              <a:buNone/>
            </a:pPr>
            <a:r>
              <a:rPr lang="en-US" sz="1400" b="1" dirty="0">
                <a:solidFill>
                  <a:schemeClr val="accent1"/>
                </a:solidFill>
                <a:latin typeface="Georgia" pitchFamily="34" charset="0"/>
                <a:ea typeface="Georgia" pitchFamily="34" charset="-122"/>
                <a:cs typeface="Georgia" pitchFamily="34" charset="-120"/>
              </a:rPr>
              <a:t>Two copies of the data</a:t>
            </a:r>
            <a:endParaRPr lang="en-US" sz="1400" dirty="0"/>
          </a:p>
        </p:txBody>
      </p:sp>
      <p:sp>
        <p:nvSpPr>
          <p:cNvPr id="7" name="Text 5"/>
          <p:cNvSpPr txBox="1"/>
          <p:nvPr/>
        </p:nvSpPr>
        <p:spPr>
          <a:xfrm>
            <a:off x="685800" y="1874520"/>
            <a:ext cx="3611880" cy="914400"/>
          </a:xfrm>
          <a:prstGeom prst="rect">
            <a:avLst/>
          </a:prstGeom>
          <a:noFill/>
          <a:ln/>
        </p:spPr>
        <p:txBody>
          <a:bodyPr wrap="square" lIns="0" tIns="0" rIns="0" bIns="0" rtlCol="0" anchor="t"/>
          <a:lstStyle/>
          <a:p>
            <a:pPr indent="0" marL="0">
              <a:buNone/>
            </a:pPr>
            <a:r>
              <a:rPr lang="en-US" sz="1250" dirty="0">
                <a:solidFill>
                  <a:schemeClr val="tx1"/>
                </a:solidFill>
              </a:rPr>
              <a:t>Structures in memory and rows in SQLite must agree. Writes go to the database first, then the structure. Testing caught a stock mismatch after multi-item sales.</a:t>
            </a:r>
            <a:endParaRPr lang="en-US" sz="1250" dirty="0"/>
          </a:p>
        </p:txBody>
      </p:sp>
      <p:sp>
        <p:nvSpPr>
          <p:cNvPr id="8" name="Shape 6"/>
          <p:cNvSpPr/>
          <p:nvPr/>
        </p:nvSpPr>
        <p:spPr>
          <a:xfrm>
            <a:off x="4663440" y="1188720"/>
            <a:ext cx="4023360" cy="1645920"/>
          </a:xfrm>
          <a:prstGeom prst="roundRect">
            <a:avLst>
              <a:gd name="adj" fmla="val 4444"/>
            </a:avLst>
          </a:prstGeom>
          <a:solidFill>
            <a:schemeClr val="bg2"/>
          </a:solidFill>
          <a:ln w="9525">
            <a:solidFill>
              <a:srgbClr val="D5DBE3"/>
            </a:solidFill>
            <a:prstDash val="solid"/>
          </a:ln>
        </p:spPr>
      </p:sp>
      <p:sp>
        <p:nvSpPr>
          <p:cNvPr id="9" name="Shape 7"/>
          <p:cNvSpPr/>
          <p:nvPr/>
        </p:nvSpPr>
        <p:spPr>
          <a:xfrm>
            <a:off x="4846320" y="1353312"/>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846320" y="13533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5349240" y="1353312"/>
            <a:ext cx="3200400" cy="384048"/>
          </a:xfrm>
          <a:prstGeom prst="rect">
            <a:avLst/>
          </a:prstGeom>
          <a:noFill/>
          <a:ln/>
        </p:spPr>
        <p:txBody>
          <a:bodyPr wrap="square" lIns="0" tIns="0" rIns="0" bIns="0" rtlCol="0" anchor="ctr"/>
          <a:lstStyle/>
          <a:p>
            <a:pPr indent="0" marL="0">
              <a:buNone/>
            </a:pPr>
            <a:r>
              <a:rPr lang="en-US" sz="1400" b="1" dirty="0">
                <a:solidFill>
                  <a:schemeClr val="accent1"/>
                </a:solidFill>
                <a:latin typeface="Georgia" pitchFamily="34" charset="0"/>
                <a:ea typeface="Georgia" pitchFamily="34" charset="-122"/>
                <a:cs typeface="Georgia" pitchFamily="34" charset="-120"/>
              </a:rPr>
              <a:t>Binary search needs order</a:t>
            </a:r>
            <a:endParaRPr lang="en-US" sz="1400" dirty="0"/>
          </a:p>
        </p:txBody>
      </p:sp>
      <p:sp>
        <p:nvSpPr>
          <p:cNvPr id="12" name="Text 10"/>
          <p:cNvSpPr txBox="1"/>
          <p:nvPr/>
        </p:nvSpPr>
        <p:spPr>
          <a:xfrm>
            <a:off x="4892040" y="1874520"/>
            <a:ext cx="3611880" cy="914400"/>
          </a:xfrm>
          <a:prstGeom prst="rect">
            <a:avLst/>
          </a:prstGeom>
          <a:noFill/>
          <a:ln/>
        </p:spPr>
        <p:txBody>
          <a:bodyPr wrap="square" lIns="0" tIns="0" rIns="0" bIns="0" rtlCol="0" anchor="t"/>
          <a:lstStyle/>
          <a:p>
            <a:pPr indent="0" marL="0">
              <a:buNone/>
            </a:pPr>
            <a:r>
              <a:rPr lang="en-US" sz="1250" dirty="0">
                <a:solidFill>
                  <a:schemeClr val="tx1"/>
                </a:solidFill>
              </a:rPr>
              <a:t>It only works on sorted ids, so every lookup sorts first. Correct, but it costs O(n log n) per request.</a:t>
            </a:r>
            <a:endParaRPr lang="en-US" sz="1250" dirty="0"/>
          </a:p>
        </p:txBody>
      </p:sp>
      <p:sp>
        <p:nvSpPr>
          <p:cNvPr id="13" name="Shape 11"/>
          <p:cNvSpPr/>
          <p:nvPr/>
        </p:nvSpPr>
        <p:spPr>
          <a:xfrm>
            <a:off x="457200" y="2971800"/>
            <a:ext cx="4023360" cy="1645920"/>
          </a:xfrm>
          <a:prstGeom prst="roundRect">
            <a:avLst>
              <a:gd name="adj" fmla="val 4444"/>
            </a:avLst>
          </a:prstGeom>
          <a:solidFill>
            <a:schemeClr val="bg2"/>
          </a:solidFill>
          <a:ln w="9525">
            <a:solidFill>
              <a:srgbClr val="D5DBE3"/>
            </a:solidFill>
            <a:prstDash val="solid"/>
          </a:ln>
        </p:spPr>
      </p:sp>
      <p:sp>
        <p:nvSpPr>
          <p:cNvPr id="14" name="Shape 12"/>
          <p:cNvSpPr/>
          <p:nvPr/>
        </p:nvSpPr>
        <p:spPr>
          <a:xfrm>
            <a:off x="640080" y="3136392"/>
            <a:ext cx="384048" cy="384048"/>
          </a:xfrm>
          <a:prstGeom prst="ellipse">
            <a:avLst/>
          </a:prstGeom>
          <a:solidFill>
            <a:schemeClr val="accent2"/>
          </a:solidFill>
          <a:ln w="12700">
            <a:solidFill>
              <a:schemeClr val="accent2"/>
            </a:solidFill>
            <a:prstDash val="solid"/>
          </a:ln>
        </p:spPr>
      </p:sp>
      <p:sp>
        <p:nvSpPr>
          <p:cNvPr id="15" name="Text 13"/>
          <p:cNvSpPr txBox="1"/>
          <p:nvPr/>
        </p:nvSpPr>
        <p:spPr>
          <a:xfrm>
            <a:off x="640080" y="31363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143000" y="3136392"/>
            <a:ext cx="3200400" cy="384048"/>
          </a:xfrm>
          <a:prstGeom prst="rect">
            <a:avLst/>
          </a:prstGeom>
          <a:noFill/>
          <a:ln/>
        </p:spPr>
        <p:txBody>
          <a:bodyPr wrap="square" lIns="0" tIns="0" rIns="0" bIns="0" rtlCol="0" anchor="ctr"/>
          <a:lstStyle/>
          <a:p>
            <a:pPr indent="0" marL="0">
              <a:buNone/>
            </a:pPr>
            <a:r>
              <a:rPr lang="en-US" sz="1400" b="1" dirty="0">
                <a:solidFill>
                  <a:schemeClr val="accent1"/>
                </a:solidFill>
                <a:latin typeface="Georgia" pitchFamily="34" charset="0"/>
                <a:ea typeface="Georgia" pitchFamily="34" charset="-122"/>
                <a:cs typeface="Georgia" pitchFamily="34" charset="-120"/>
              </a:rPr>
              <a:t>Making algorithms explainable</a:t>
            </a:r>
            <a:endParaRPr lang="en-US" sz="1400" dirty="0"/>
          </a:p>
        </p:txBody>
      </p:sp>
      <p:sp>
        <p:nvSpPr>
          <p:cNvPr id="17" name="Text 15"/>
          <p:cNvSpPr txBox="1"/>
          <p:nvPr/>
        </p:nvSpPr>
        <p:spPr>
          <a:xfrm>
            <a:off x="685800" y="3657600"/>
            <a:ext cx="3611880" cy="914400"/>
          </a:xfrm>
          <a:prstGeom prst="rect">
            <a:avLst/>
          </a:prstGeom>
          <a:noFill/>
          <a:ln/>
        </p:spPr>
        <p:txBody>
          <a:bodyPr wrap="square" lIns="0" tIns="0" rIns="0" bIns="0" rtlCol="0" anchor="t"/>
          <a:lstStyle/>
          <a:p>
            <a:pPr indent="0" marL="0">
              <a:buNone/>
            </a:pPr>
            <a:r>
              <a:rPr lang="en-US" sz="1250" dirty="0">
                <a:solidFill>
                  <a:schemeClr val="tx1"/>
                </a:solidFill>
              </a:rPr>
              <a:t>Each algorithm returns a trace (comparisons, probes, stack steps, decisions) so the screen can show how it worked.</a:t>
            </a:r>
            <a:endParaRPr lang="en-US" sz="1250" dirty="0"/>
          </a:p>
        </p:txBody>
      </p:sp>
      <p:sp>
        <p:nvSpPr>
          <p:cNvPr id="18" name="Shape 16"/>
          <p:cNvSpPr/>
          <p:nvPr/>
        </p:nvSpPr>
        <p:spPr>
          <a:xfrm>
            <a:off x="4663440" y="2971800"/>
            <a:ext cx="4023360" cy="1645920"/>
          </a:xfrm>
          <a:prstGeom prst="roundRect">
            <a:avLst>
              <a:gd name="adj" fmla="val 4444"/>
            </a:avLst>
          </a:prstGeom>
          <a:solidFill>
            <a:schemeClr val="bg2"/>
          </a:solidFill>
          <a:ln w="9525">
            <a:solidFill>
              <a:srgbClr val="D5DBE3"/>
            </a:solidFill>
            <a:prstDash val="solid"/>
          </a:ln>
        </p:spPr>
      </p:sp>
      <p:sp>
        <p:nvSpPr>
          <p:cNvPr id="19" name="Shape 17"/>
          <p:cNvSpPr/>
          <p:nvPr/>
        </p:nvSpPr>
        <p:spPr>
          <a:xfrm>
            <a:off x="4846320" y="3136392"/>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4846320" y="31363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5349240" y="3136392"/>
            <a:ext cx="3200400" cy="384048"/>
          </a:xfrm>
          <a:prstGeom prst="rect">
            <a:avLst/>
          </a:prstGeom>
          <a:noFill/>
          <a:ln/>
        </p:spPr>
        <p:txBody>
          <a:bodyPr wrap="square" lIns="0" tIns="0" rIns="0" bIns="0" rtlCol="0" anchor="ctr"/>
          <a:lstStyle/>
          <a:p>
            <a:pPr indent="0" marL="0">
              <a:buNone/>
            </a:pPr>
            <a:r>
              <a:rPr lang="en-US" sz="1400" b="1" dirty="0">
                <a:solidFill>
                  <a:schemeClr val="accent1"/>
                </a:solidFill>
                <a:latin typeface="Georgia" pitchFamily="34" charset="0"/>
                <a:ea typeface="Georgia" pitchFamily="34" charset="-122"/>
                <a:cs typeface="Georgia" pitchFamily="34" charset="-120"/>
              </a:rPr>
              <a:t>Safe sessions</a:t>
            </a:r>
            <a:endParaRPr lang="en-US" sz="1400" dirty="0"/>
          </a:p>
        </p:txBody>
      </p:sp>
      <p:sp>
        <p:nvSpPr>
          <p:cNvPr id="22" name="Text 20"/>
          <p:cNvSpPr txBox="1"/>
          <p:nvPr/>
        </p:nvSpPr>
        <p:spPr>
          <a:xfrm>
            <a:off x="4892040" y="3657600"/>
            <a:ext cx="3611880" cy="914400"/>
          </a:xfrm>
          <a:prstGeom prst="rect">
            <a:avLst/>
          </a:prstGeom>
          <a:noFill/>
          <a:ln/>
        </p:spPr>
        <p:txBody>
          <a:bodyPr wrap="square" lIns="0" tIns="0" rIns="0" bIns="0" rtlCol="0" anchor="t"/>
          <a:lstStyle/>
          <a:p>
            <a:pPr indent="0" marL="0">
              <a:buNone/>
            </a:pPr>
            <a:r>
              <a:rPr lang="en-US" sz="1250" dirty="0">
                <a:solidFill>
                  <a:schemeClr val="tx1"/>
                </a:solidFill>
              </a:rPr>
              <a:t>Idle timeouts, role checks and stopping the Back button from reopening a page after logout.</a:t>
            </a:r>
            <a:endParaRPr lang="en-US" sz="125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A97A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097280" y="2926080"/>
            <a:ext cx="3840480" cy="3840480"/>
          </a:xfrm>
          <a:prstGeom prst="ellipse">
            <a:avLst/>
          </a:prstGeom>
          <a:solidFill>
            <a:srgbClr val="B5373F">
              <a:alpha val="30000"/>
            </a:srgbClr>
          </a:solidFill>
          <a:ln w="12700">
            <a:solidFill>
              <a:srgbClr val="B5373F"/>
            </a:solidFill>
            <a:prstDash val="solid"/>
          </a:ln>
        </p:spPr>
      </p:sp>
      <p:sp>
        <p:nvSpPr>
          <p:cNvPr id="3" name="Text 1"/>
          <p:cNvSpPr txBox="1"/>
          <p:nvPr/>
        </p:nvSpPr>
        <p:spPr>
          <a:xfrm>
            <a:off x="640080" y="1371600"/>
            <a:ext cx="7863840" cy="914400"/>
          </a:xfrm>
          <a:prstGeom prst="rect">
            <a:avLst/>
          </a:prstGeom>
          <a:noFill/>
          <a:ln/>
        </p:spPr>
        <p:txBody>
          <a:bodyPr wrap="square" lIns="0" tIns="0" rIns="0" bIns="0" rtlCol="0" anchor="t"/>
          <a:lstStyle/>
          <a:p>
            <a:pPr algn="ctr" indent="0" marL="0">
              <a:buNone/>
            </a:pPr>
            <a:r>
              <a:rPr lang="en-US" sz="4600" b="1" dirty="0">
                <a:solidFill>
                  <a:schemeClr val="bg1"/>
                </a:solidFill>
                <a:latin typeface="Georgia" pitchFamily="34" charset="0"/>
                <a:ea typeface="Georgia" pitchFamily="34" charset="-122"/>
                <a:cs typeface="Georgia" pitchFamily="34" charset="-120"/>
              </a:rPr>
              <a:t>Thank you</a:t>
            </a:r>
            <a:endParaRPr lang="en-US" sz="4600" dirty="0"/>
          </a:p>
        </p:txBody>
      </p:sp>
      <p:sp>
        <p:nvSpPr>
          <p:cNvPr id="4" name="Text 2"/>
          <p:cNvSpPr txBox="1"/>
          <p:nvPr/>
        </p:nvSpPr>
        <p:spPr>
          <a:xfrm>
            <a:off x="640080" y="2377440"/>
            <a:ext cx="7863840" cy="457200"/>
          </a:xfrm>
          <a:prstGeom prst="rect">
            <a:avLst/>
          </a:prstGeom>
          <a:noFill/>
          <a:ln/>
        </p:spPr>
        <p:txBody>
          <a:bodyPr wrap="square" lIns="0" tIns="0" rIns="0" bIns="0" rtlCol="0" anchor="t"/>
          <a:lstStyle/>
          <a:p>
            <a:pPr algn="ctr" indent="0" marL="0">
              <a:buNone/>
            </a:pPr>
            <a:r>
              <a:rPr lang="en-US" sz="2200" dirty="0">
                <a:solidFill>
                  <a:srgbClr val="D9E2F3"/>
                </a:solidFill>
              </a:rPr>
              <a:t>Questions?</a:t>
            </a:r>
            <a:endParaRPr lang="en-US" sz="2200" dirty="0"/>
          </a:p>
        </p:txBody>
      </p:sp>
      <p:sp>
        <p:nvSpPr>
          <p:cNvPr id="5" name="Text 3"/>
          <p:cNvSpPr txBox="1"/>
          <p:nvPr/>
        </p:nvSpPr>
        <p:spPr>
          <a:xfrm>
            <a:off x="640080" y="3383280"/>
            <a:ext cx="7863840" cy="365760"/>
          </a:xfrm>
          <a:prstGeom prst="rect">
            <a:avLst/>
          </a:prstGeom>
          <a:noFill/>
          <a:ln/>
        </p:spPr>
        <p:txBody>
          <a:bodyPr wrap="square" lIns="0" tIns="0" rIns="0" bIns="0" rtlCol="0" anchor="t"/>
          <a:lstStyle/>
          <a:p>
            <a:pPr algn="ctr" indent="0" marL="0">
              <a:buNone/>
            </a:pPr>
            <a:r>
              <a:rPr lang="en-US" sz="1400" dirty="0">
                <a:solidFill>
                  <a:srgbClr val="A9B8CF"/>
                </a:solidFill>
              </a:rPr>
              <a:t>github.com/arj556677-blip/PC-Point</a:t>
            </a:r>
            <a:endParaRPr lang="en-US" sz="1400" dirty="0"/>
          </a:p>
        </p:txBody>
      </p:sp>
      <p:sp>
        <p:nvSpPr>
          <p:cNvPr id="6" name="Text 4"/>
          <p:cNvSpPr txBox="1"/>
          <p:nvPr/>
        </p:nvSpPr>
        <p:spPr>
          <a:xfrm>
            <a:off x="640080" y="3840480"/>
            <a:ext cx="7863840" cy="365760"/>
          </a:xfrm>
          <a:prstGeom prst="rect">
            <a:avLst/>
          </a:prstGeom>
          <a:noFill/>
          <a:ln/>
        </p:spPr>
        <p:txBody>
          <a:bodyPr wrap="square" lIns="0" tIns="0" rIns="0" bIns="0" rtlCol="0" anchor="t"/>
          <a:lstStyle/>
          <a:p>
            <a:pPr algn="ctr" indent="0" marL="0">
              <a:buNone/>
            </a:pPr>
            <a:r>
              <a:rPr lang="en-US" sz="1200" dirty="0">
                <a:solidFill>
                  <a:srgbClr val="A9B8CF"/>
                </a:solidFill>
              </a:rPr>
              <a:t>Aaron Joseph  |  26MCAB01  |  Guide: Dr. Abinaya S</a:t>
            </a:r>
            <a:endParaRPr lang="en-US" sz="1200" dirty="0"/>
          </a:p>
        </p:txBody>
      </p:sp>
    </p:spTree>
  </p:cSld>
  <p:clrMapOvr>
    <a:masterClrMapping/>
  </p:clrMapOvr>
</p:sld>
</file>

<file path=ppt/theme/theme1.xml><?xml version="1.0" encoding="utf-8"?>
<a:theme xmlns:a="http://schemas.openxmlformats.org/drawingml/2006/main" name="PC Point">
  <a:themeElements>
    <a:clrScheme name="PC Point">
      <a:dk1>
        <a:srgbClr val="1B2433"/>
      </a:dk1>
      <a:lt1>
        <a:srgbClr val="FFFFFF"/>
      </a:lt1>
      <a:dk2>
        <a:srgbClr val="1F3A5F"/>
      </a:dk2>
      <a:lt2>
        <a:srgbClr val="EEF1F5"/>
      </a:lt2>
      <a:accent1>
        <a:srgbClr val="1F3A5F"/>
      </a:accent1>
      <a:accent2>
        <a:srgbClr val="B5373F"/>
      </a:accent2>
      <a:accent3>
        <a:srgbClr val="2E7D5B"/>
      </a:accent3>
      <a:accent4>
        <a:srgbClr val="C98A1B"/>
      </a:accent4>
      <a:accent5>
        <a:srgbClr val="8A97A8"/>
      </a:accent5>
      <a:accent6>
        <a:srgbClr val="4A6FA5"/>
      </a:accent6>
      <a:hlink>
        <a:srgbClr val="1F3A5F"/>
      </a:hlink>
      <a:folHlink>
        <a:srgbClr val="8A97A8"/>
      </a:folHlink>
    </a:clrScheme>
    <a:fontScheme name="PC Poin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 Point: Online Computer Sales and Accessories</dc:title>
  <dc:subject>PptxGenJS Presentation</dc:subject>
  <dc:creator>Aaron Joseph</dc:creator>
  <cp:lastModifiedBy>Aaron Joseph</cp:lastModifiedBy>
  <cp:revision>1</cp:revision>
  <dcterms:created xsi:type="dcterms:W3CDTF">2026-10-22T08:51:37Z</dcterms:created>
  <dcterms:modified xsi:type="dcterms:W3CDTF">2026-10-22T08:51:37Z</dcterms:modified>
</cp:coreProperties>
</file>